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792644e5bc4c28" /><Relationship Type="http://schemas.openxmlformats.org/officeDocument/2006/relationships/extended-properties" Target="/docProps/app.xml" Id="Rb72acc0c30ce456a" /><Relationship Type="http://schemas.openxmlformats.org/officeDocument/2006/relationships/officeDocument" Target="/ppt/presentation.xml" Id="R1c3ac355b2294d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4340dcd3f145b2"/>
  </p:sldMasterIdLst>
  <p:notesMasterIdLst>
    <p:notesMasterId xmlns:r="http://schemas.openxmlformats.org/officeDocument/2006/relationships" r:id="Rf509496b0ae54389"/>
  </p:notesMasterIdLst>
  <p:sldIdLst>
    <p:sldId xmlns:r="http://schemas.openxmlformats.org/officeDocument/2006/relationships" id="256" r:id="Rd4100680652b4514"/>
    <p:sldId xmlns:r="http://schemas.openxmlformats.org/officeDocument/2006/relationships" id="257" r:id="Re3301670ecf14e7e"/>
    <p:sldId xmlns:r="http://schemas.openxmlformats.org/officeDocument/2006/relationships" id="258" r:id="Rae8084fd741c4a10"/>
    <p:sldId xmlns:r="http://schemas.openxmlformats.org/officeDocument/2006/relationships" id="259" r:id="R1bab5d5eb5f54e74"/>
    <p:sldId xmlns:r="http://schemas.openxmlformats.org/officeDocument/2006/relationships" id="260" r:id="Rf47fd071161042e8"/>
    <p:sldId xmlns:r="http://schemas.openxmlformats.org/officeDocument/2006/relationships" id="261" r:id="R6440b8e3619f44ec"/>
    <p:sldId xmlns:r="http://schemas.openxmlformats.org/officeDocument/2006/relationships" id="262" r:id="Rfc02d1a047d54055"/>
    <p:sldId xmlns:r="http://schemas.openxmlformats.org/officeDocument/2006/relationships" id="263" r:id="R861f8cc6a0ce4832"/>
    <p:sldId xmlns:r="http://schemas.openxmlformats.org/officeDocument/2006/relationships" id="264" r:id="R205d07a7e71e4599"/>
    <p:sldId xmlns:r="http://schemas.openxmlformats.org/officeDocument/2006/relationships" id="265" r:id="R7d74eb218c434cc3"/>
    <p:sldId xmlns:r="http://schemas.openxmlformats.org/officeDocument/2006/relationships" id="266" r:id="R3731a9735eb0493e"/>
    <p:sldId xmlns:r="http://schemas.openxmlformats.org/officeDocument/2006/relationships" id="267" r:id="R305dc91b47754a43"/>
    <p:sldId xmlns:r="http://schemas.openxmlformats.org/officeDocument/2006/relationships" id="268" r:id="Rbb0abfc60ab741e5"/>
    <p:sldId xmlns:r="http://schemas.openxmlformats.org/officeDocument/2006/relationships" id="269" r:id="R0004410c024b4d5d"/>
    <p:sldId xmlns:r="http://schemas.openxmlformats.org/officeDocument/2006/relationships" id="270" r:id="Rd42610b2973c4beb"/>
    <p:sldId xmlns:r="http://schemas.openxmlformats.org/officeDocument/2006/relationships" id="271" r:id="R1db2f8e4632f4ff6"/>
    <p:sldId xmlns:r="http://schemas.openxmlformats.org/officeDocument/2006/relationships" id="272" r:id="R116755d523f142c0"/>
    <p:sldId xmlns:r="http://schemas.openxmlformats.org/officeDocument/2006/relationships" id="273" r:id="Rceb12cfebeae49f6"/>
    <p:sldId xmlns:r="http://schemas.openxmlformats.org/officeDocument/2006/relationships" id="274" r:id="R9f5378aaf1344d95"/>
    <p:sldId xmlns:r="http://schemas.openxmlformats.org/officeDocument/2006/relationships" id="275" r:id="R53549ec5fec24b0e"/>
    <p:sldId xmlns:r="http://schemas.openxmlformats.org/officeDocument/2006/relationships" id="276" r:id="Raa377b10bf8d4fc5"/>
    <p:sldId xmlns:r="http://schemas.openxmlformats.org/officeDocument/2006/relationships" id="277" r:id="Ra5537519690b4224"/>
    <p:sldId xmlns:r="http://schemas.openxmlformats.org/officeDocument/2006/relationships" id="278" r:id="R9dd5c95575154632"/>
    <p:sldId xmlns:r="http://schemas.openxmlformats.org/officeDocument/2006/relationships" id="279" r:id="R81526b4650d343f8"/>
    <p:sldId xmlns:r="http://schemas.openxmlformats.org/officeDocument/2006/relationships" id="280" r:id="R16345c9f83334e21"/>
    <p:sldId xmlns:r="http://schemas.openxmlformats.org/officeDocument/2006/relationships" id="281" r:id="Rc5f5104af6b64559"/>
    <p:sldId xmlns:r="http://schemas.openxmlformats.org/officeDocument/2006/relationships" id="282" r:id="Ra6655cab97ca4435"/>
    <p:sldId xmlns:r="http://schemas.openxmlformats.org/officeDocument/2006/relationships" id="283" r:id="R5a9e3fa4e7af45cb"/>
    <p:sldId xmlns:r="http://schemas.openxmlformats.org/officeDocument/2006/relationships" id="284" r:id="R7350c7c066404bc4"/>
    <p:sldId xmlns:r="http://schemas.openxmlformats.org/officeDocument/2006/relationships" id="285" r:id="R051cb1a1a6b64c13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390a76c51c4f0c" /><Relationship Type="http://schemas.openxmlformats.org/officeDocument/2006/relationships/slideMaster" Target="/ppt/slideMasters/slideMaster1.xml" Id="R8d4340dcd3f145b2" /><Relationship Type="http://schemas.openxmlformats.org/officeDocument/2006/relationships/notesMaster" Target="/ppt/notesMasters/notesMaster1.xml" Id="Rf509496b0ae54389" /><Relationship Type="http://schemas.openxmlformats.org/officeDocument/2006/relationships/presProps" Target="/ppt/presProps.xml" Id="R368176d9a57e4c13" /><Relationship Type="http://schemas.openxmlformats.org/officeDocument/2006/relationships/tableStyles" Target="/ppt/tableStyles.xml" Id="Re85c181c9d654061" /><Relationship Type="http://schemas.openxmlformats.org/officeDocument/2006/relationships/slide" Target="/ppt/slides/slide1.xml" Id="Rd4100680652b4514" /><Relationship Type="http://schemas.openxmlformats.org/officeDocument/2006/relationships/slide" Target="/ppt/slides/slide2.xml" Id="Re3301670ecf14e7e" /><Relationship Type="http://schemas.openxmlformats.org/officeDocument/2006/relationships/slide" Target="/ppt/slides/slide3.xml" Id="Rae8084fd741c4a10" /><Relationship Type="http://schemas.openxmlformats.org/officeDocument/2006/relationships/slide" Target="/ppt/slides/slide4.xml" Id="R1bab5d5eb5f54e74" /><Relationship Type="http://schemas.openxmlformats.org/officeDocument/2006/relationships/slide" Target="/ppt/slides/slide5.xml" Id="Rf47fd071161042e8" /><Relationship Type="http://schemas.openxmlformats.org/officeDocument/2006/relationships/slide" Target="/ppt/slides/slide6.xml" Id="R6440b8e3619f44ec" /><Relationship Type="http://schemas.openxmlformats.org/officeDocument/2006/relationships/slide" Target="/ppt/slides/slide7.xml" Id="Rfc02d1a047d54055" /><Relationship Type="http://schemas.openxmlformats.org/officeDocument/2006/relationships/slide" Target="/ppt/slides/slide8.xml" Id="R861f8cc6a0ce4832" /><Relationship Type="http://schemas.openxmlformats.org/officeDocument/2006/relationships/slide" Target="/ppt/slides/slide9.xml" Id="R205d07a7e71e4599" /><Relationship Type="http://schemas.openxmlformats.org/officeDocument/2006/relationships/slide" Target="/ppt/slides/slide10.xml" Id="R7d74eb218c434cc3" /><Relationship Type="http://schemas.openxmlformats.org/officeDocument/2006/relationships/slide" Target="/ppt/slides/slide11.xml" Id="R3731a9735eb0493e" /><Relationship Type="http://schemas.openxmlformats.org/officeDocument/2006/relationships/slide" Target="/ppt/slides/slide12.xml" Id="R305dc91b47754a43" /><Relationship Type="http://schemas.openxmlformats.org/officeDocument/2006/relationships/slide" Target="/ppt/slides/slide13.xml" Id="Rbb0abfc60ab741e5" /><Relationship Type="http://schemas.openxmlformats.org/officeDocument/2006/relationships/slide" Target="/ppt/slides/slide14.xml" Id="R0004410c024b4d5d" /><Relationship Type="http://schemas.openxmlformats.org/officeDocument/2006/relationships/slide" Target="/ppt/slides/slide15.xml" Id="Rd42610b2973c4beb" /><Relationship Type="http://schemas.openxmlformats.org/officeDocument/2006/relationships/slide" Target="/ppt/slides/slide16.xml" Id="R1db2f8e4632f4ff6" /><Relationship Type="http://schemas.openxmlformats.org/officeDocument/2006/relationships/slide" Target="/ppt/slides/slide17.xml" Id="R116755d523f142c0" /><Relationship Type="http://schemas.openxmlformats.org/officeDocument/2006/relationships/slide" Target="/ppt/slides/slide18.xml" Id="Rceb12cfebeae49f6" /><Relationship Type="http://schemas.openxmlformats.org/officeDocument/2006/relationships/slide" Target="/ppt/slides/slide19.xml" Id="R9f5378aaf1344d95" /><Relationship Type="http://schemas.openxmlformats.org/officeDocument/2006/relationships/slide" Target="/ppt/slides/slide20.xml" Id="R53549ec5fec24b0e" /><Relationship Type="http://schemas.openxmlformats.org/officeDocument/2006/relationships/slide" Target="/ppt/slides/slide21.xml" Id="Raa377b10bf8d4fc5" /><Relationship Type="http://schemas.openxmlformats.org/officeDocument/2006/relationships/slide" Target="/ppt/slides/slide22.xml" Id="Ra5537519690b4224" /><Relationship Type="http://schemas.openxmlformats.org/officeDocument/2006/relationships/slide" Target="/ppt/slides/slide23.xml" Id="R9dd5c95575154632" /><Relationship Type="http://schemas.openxmlformats.org/officeDocument/2006/relationships/slide" Target="/ppt/slides/slide24.xml" Id="R81526b4650d343f8" /><Relationship Type="http://schemas.openxmlformats.org/officeDocument/2006/relationships/slide" Target="/ppt/slides/slide25.xml" Id="R16345c9f83334e21" /><Relationship Type="http://schemas.openxmlformats.org/officeDocument/2006/relationships/slide" Target="/ppt/slides/slide26.xml" Id="Rc5f5104af6b64559" /><Relationship Type="http://schemas.openxmlformats.org/officeDocument/2006/relationships/slide" Target="/ppt/slides/slide27.xml" Id="Ra6655cab97ca4435" /><Relationship Type="http://schemas.openxmlformats.org/officeDocument/2006/relationships/slide" Target="/ppt/slides/slide28.xml" Id="R5a9e3fa4e7af45cb" /><Relationship Type="http://schemas.openxmlformats.org/officeDocument/2006/relationships/slide" Target="/ppt/slides/slide29.xml" Id="R7350c7c066404bc4" /><Relationship Type="http://schemas.openxmlformats.org/officeDocument/2006/relationships/slide" Target="/ppt/slides/slide30.xml" Id="R051cb1a1a6b64c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e413b7b05a4b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4ce63c99d34616" /><Relationship Type="http://schemas.openxmlformats.org/officeDocument/2006/relationships/notesMaster" Target="/ppt/notesMasters/notesMaster1.xml" Id="Rc04322efc6f04f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7bc87d93964814" /><Relationship Type="http://schemas.openxmlformats.org/officeDocument/2006/relationships/notesMaster" Target="/ppt/notesMasters/notesMaster1.xml" Id="R2aee3e02d76f45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5ff3f276e94a52" /><Relationship Type="http://schemas.openxmlformats.org/officeDocument/2006/relationships/notesMaster" Target="/ppt/notesMasters/notesMaster1.xml" Id="Ra92467f196f54e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35e130876e462d" /><Relationship Type="http://schemas.openxmlformats.org/officeDocument/2006/relationships/notesMaster" Target="/ppt/notesMasters/notesMaster1.xml" Id="R64a4d7115f3643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278aa036e145ad" /><Relationship Type="http://schemas.openxmlformats.org/officeDocument/2006/relationships/notesMaster" Target="/ppt/notesMasters/notesMaster1.xml" Id="R6d52983c06a040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d0acc42caf4788" /><Relationship Type="http://schemas.openxmlformats.org/officeDocument/2006/relationships/notesMaster" Target="/ppt/notesMasters/notesMaster1.xml" Id="R5d35624602d34e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4559651d8d47a1" /><Relationship Type="http://schemas.openxmlformats.org/officeDocument/2006/relationships/notesMaster" Target="/ppt/notesMasters/notesMaster1.xml" Id="Rf3cacb7ad3cc4d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77327964894e25" /><Relationship Type="http://schemas.openxmlformats.org/officeDocument/2006/relationships/notesMaster" Target="/ppt/notesMasters/notesMaster1.xml" Id="Rdec8dbf84a134b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b7d2877577480f" /><Relationship Type="http://schemas.openxmlformats.org/officeDocument/2006/relationships/notesMaster" Target="/ppt/notesMasters/notesMaster1.xml" Id="R57905426a32946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445c5aad044bad" /><Relationship Type="http://schemas.openxmlformats.org/officeDocument/2006/relationships/notesMaster" Target="/ppt/notesMasters/notesMaster1.xml" Id="Rd63a9a4a0f9746f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3d102a2c1447d1" /><Relationship Type="http://schemas.openxmlformats.org/officeDocument/2006/relationships/notesMaster" Target="/ppt/notesMasters/notesMaster1.xml" Id="Rc5ab3fc5bd6b481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6cabe8bfb24fce" /><Relationship Type="http://schemas.openxmlformats.org/officeDocument/2006/relationships/notesMaster" Target="/ppt/notesMasters/notesMaster1.xml" Id="R768e227743184c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2922afab84d4b3f" /><Relationship Type="http://schemas.openxmlformats.org/officeDocument/2006/relationships/notesMaster" Target="/ppt/notesMasters/notesMaster1.xml" Id="Rb9652c27ab1f47c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8fadb02f1454bea" /><Relationship Type="http://schemas.openxmlformats.org/officeDocument/2006/relationships/notesMaster" Target="/ppt/notesMasters/notesMaster1.xml" Id="Rffa9ec94cde7429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5fe828570e34615" /><Relationship Type="http://schemas.openxmlformats.org/officeDocument/2006/relationships/notesMaster" Target="/ppt/notesMasters/notesMaster1.xml" Id="Rd4b6eaf12098499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a1f9c0fe8914ea8" /><Relationship Type="http://schemas.openxmlformats.org/officeDocument/2006/relationships/notesMaster" Target="/ppt/notesMasters/notesMaster1.xml" Id="Rf689773c51e745d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19e4830e06a436d" /><Relationship Type="http://schemas.openxmlformats.org/officeDocument/2006/relationships/notesMaster" Target="/ppt/notesMasters/notesMaster1.xml" Id="R99030f764de241c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24a3ae9bf4b4dbc" /><Relationship Type="http://schemas.openxmlformats.org/officeDocument/2006/relationships/notesMaster" Target="/ppt/notesMasters/notesMaster1.xml" Id="R0d1a8d61b7e2453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b89526e91cf4061" /><Relationship Type="http://schemas.openxmlformats.org/officeDocument/2006/relationships/notesMaster" Target="/ppt/notesMasters/notesMaster1.xml" Id="Rf6f5e2b81c1c46b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61fd75ea45245fb" /><Relationship Type="http://schemas.openxmlformats.org/officeDocument/2006/relationships/notesMaster" Target="/ppt/notesMasters/notesMaster1.xml" Id="Rd179c28bce9a423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2caba99f5cd46e3" /><Relationship Type="http://schemas.openxmlformats.org/officeDocument/2006/relationships/notesMaster" Target="/ppt/notesMasters/notesMaster1.xml" Id="Rfbabd918ca9549e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46d89a1600d4b67" /><Relationship Type="http://schemas.openxmlformats.org/officeDocument/2006/relationships/notesMaster" Target="/ppt/notesMasters/notesMaster1.xml" Id="Rdfc23b6e4961429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66b4f69db164797" /><Relationship Type="http://schemas.openxmlformats.org/officeDocument/2006/relationships/notesMaster" Target="/ppt/notesMasters/notesMaster1.xml" Id="R70fcf8cdc94a4b3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045baccdce1491a" /><Relationship Type="http://schemas.openxmlformats.org/officeDocument/2006/relationships/notesMaster" Target="/ppt/notesMasters/notesMaster1.xml" Id="Rb418fded8ccc4f9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e0dd1e161894803" /><Relationship Type="http://schemas.openxmlformats.org/officeDocument/2006/relationships/notesMaster" Target="/ppt/notesMasters/notesMaster1.xml" Id="R97c019b99e3145f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5b3abb494f54a35" /><Relationship Type="http://schemas.openxmlformats.org/officeDocument/2006/relationships/notesMaster" Target="/ppt/notesMasters/notesMaster1.xml" Id="Re44a1dbf738940a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711cdbb733c4762" /><Relationship Type="http://schemas.openxmlformats.org/officeDocument/2006/relationships/notesMaster" Target="/ppt/notesMasters/notesMaster1.xml" Id="R9c2e2801e5594cd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46ef1c31fd34ba7" /><Relationship Type="http://schemas.openxmlformats.org/officeDocument/2006/relationships/notesMaster" Target="/ppt/notesMasters/notesMaster1.xml" Id="Rd778afd8acd7403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72b7f2a22d44809" /><Relationship Type="http://schemas.openxmlformats.org/officeDocument/2006/relationships/notesMaster" Target="/ppt/notesMasters/notesMaster1.xml" Id="Raa98a5f05d7b420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63c4e175c794cf7" /><Relationship Type="http://schemas.openxmlformats.org/officeDocument/2006/relationships/notesMaster" Target="/ppt/notesMasters/notesMaster1.xml" Id="R3826799b57e347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20250908 BIM Game for 114-1 BIM Technology.pptx, slide 1. Visual reference: user-provided To BIM, or not to BIM.mp4.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20250908 BIM Game for 114-1 BIM Technology.pptx, slide 2. Visual reference: user-provided To BIM, or not to BIM.mp4.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20250908 BIM Game for 114-1 BIM Technology.pptx, slide 3. Visual reference: user-provided To BIM, or not to BIM.mp4.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20250908 BIM Game for 114-1 BIM Technology.pptx, slide 4. Visual reference: user-provided To BIM, or not to BIM.mp4.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20250908 BIM Game for 114-1 BIM Technology.pptx, slide 5. Visual reference: user-provided To BIM, or not to BIM.mp4.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20250908 BIM Game for 114-1 BIM Technology.pptx, slide 6. Visual reference: user-provided To BIM, or not to BIM.mp4.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20250908 BIM Game for 114-1 BIM Technology.pptx, slide 7. Visual reference: user-provided To BIM, or not to BIM.mp4.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20250908 BIM Game for 114-1 BIM Technology.pptx, slide 8. Visual reference: user-provided To BIM, or not to BIM.mp4.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20250908 BIM Game for 114-1 BIM Technology.pptx, slide 9. Visual reference: user-provided To BIM, or not to BIM.mp4.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
Fractions are exact. Percentage labels follow the rounded values in the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20250908 BIM Game for 114-1 BIM Technology.pptx, slide 10. Visual reference: user-provided To BIM, or not to BIM.mp4.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20250908 BIM Game for 114-1 BIM Technology.pptx, slide 11. Visual reference: user-provided To BIM, or not to BIM.mp4.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
Fractions are exact. Percentage labels follow the rounded values in the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20250908 BIM Game for 114-1 BIM Technology.pptx, slide 12. Visual reference: user-provided To BIM, or not to BIM.mp4.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20250908 BIM Game for 114-1 BIM Technology.pptx, slide 13. Visual reference: user-provided To BIM, or not to BIM.mp4.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20250908 BIM Game for 114-1 BIM Technology.pptx, slide 14. Visual reference: user-provided To BIM, or not to BIM.mp4.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20250908 BIM Game for 114-1 BIM Technology.pptx, slide 15. Visual reference: user-provided To BIM, or not to BIM.mp4.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20250908 BIM Game for 114-1 BIM Technology.pptx, slide 16. Visual reference: user-provided To BIM, or not to BIM.mp4.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
Fractions are exact. Percentage labels follow the rounded values in the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20250908 BIM Game for 114-1 BIM Technology.pptx, slide 17. Visual reference: user-provided To BIM, or not to BIM.mp4.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20250908 BIM Game for 114-1 BIM Technology.pptx, slide 18. Visual reference: user-provided To BIM, or not to BIM.mp4.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
Fractions are exact. Percentage labels follow the rounded values in the source.</a:t>
            </a:r>
          </a:p>
          <a:p xmlns:a="http://schemas.openxmlformats.org/drawingml/2006/main">
            <a:r>
              <a:t>
The source sentence says 1 unit of time, but its construction probability diagram shows 5. The displayed example uses 5 to match that diagram.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20250908 BIM Game for 114-1 BIM Technology.pptx, slide 19. Visual reference: user-provided To BIM, or not to BIM.mp4.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20250908 BIM Game for 114-1 BIM Technology.pptx, slide 20. Visual reference: user-provided To BIM, or not to BIM.mp4.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20250908 BIM Game for 114-1 BIM Technology.pptx, slide 21. Visual reference: user-provided To BIM, or not to BIM.mp4.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20250908 BIM Game for 114-1 BIM Technology.pptx, slide 22. Visual reference: user-provided To BIM, or not to BIM.mp4.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20250908 BIM Game for 114-1 BIM Technology.pptx, slide 23. Visual reference: user-provided To BIM, or not to BIM.mp4.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20250908 BIM Game for 114-1 BIM Technology.pptx, slide 24. Visual reference: user-provided To BIM, or not to BIM.mp4.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
Dice illustration created with the built-in image generation tool. Prompt: Three moss green, ochre yellow and burnt orange six-sided dice with white pips on a matte black surface, minimalist studio product photograph, no text or logos.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20250908 BIM Game for 114-1 BIM Technology.pptx, slide 25. Visual reference: user-provided To BIM, or not to BIM.mp4.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20250908 BIM Game for 114-1 BIM Technology.pptx, slide 26. Visual reference: user-provided To BIM, or not to BIM.mp4.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20250908 BIM Game for 114-1 BIM Technology.pptx, slide 27. Visual reference: user-provided To BIM, or not to BIM.mp4.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20250908 BIM Game for 114-1 BIM Technology.pptx, slide 28. Visual reference: user-provided To BIM, or not to BIM.mp4.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
The source slide depicts money alongside architects, engineers, BIM and CAD without giving numerical prices. No prices are added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20250908 BIM Game for 114-1 BIM Technology.pptx, slide 29. Visual reference: user-provided To BIM, or not to BIM.mp4.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20250908 BIM Game for 114-1 BIM Technology.pptx, slide 30. Visual reference: user-provided To BIM, or not to BIM.mp4.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
Dice illustration created with the built-in image generation tool. Prompt: Three moss green, ochre yellow and burnt orange six-sided dice with white pips on a matte black surface, minimalist studio product photograph, no text or logos.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773bdac7d94e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2313067a3f463d" /><Relationship Type="http://schemas.openxmlformats.org/officeDocument/2006/relationships/slideLayout" Target="/ppt/slideLayouts/slideLayout1.xml" Id="R0cc18ddeb9714c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c18ddeb9714c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366e881e44317" /><Relationship Type="http://schemas.openxmlformats.org/officeDocument/2006/relationships/image" Target="/ppt/media/image.png" Id="R8ec5c397b48c4423" /><Relationship Type="http://schemas.openxmlformats.org/officeDocument/2006/relationships/image" Target="/ppt/media/image2.png" Id="Ref8eb576429149b3" /><Relationship Type="http://schemas.openxmlformats.org/officeDocument/2006/relationships/notesSlide" Target="/ppt/notesSlides/notesSlide1.xml" Id="R35269b11321248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01f83191d4c89" /><Relationship Type="http://schemas.openxmlformats.org/officeDocument/2006/relationships/image" Target="/ppt/media/image3.png" Id="R0b3e74ce6b8d40e0" /><Relationship Type="http://schemas.openxmlformats.org/officeDocument/2006/relationships/notesSlide" Target="/ppt/notesSlides/notesSlide2.xml" Id="R932d1e985e844d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a7fa7bfde4566" /><Relationship Type="http://schemas.openxmlformats.org/officeDocument/2006/relationships/image" Target="/ppt/media/image4.png" Id="R77739b843ab24e37" /><Relationship Type="http://schemas.openxmlformats.org/officeDocument/2006/relationships/notesSlide" Target="/ppt/notesSlides/notesSlide3.xml" Id="Raf4ebe55d27146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dad3410e44de9" /><Relationship Type="http://schemas.openxmlformats.org/officeDocument/2006/relationships/image" Target="/ppt/media/image5.png" Id="R9bdcc83f383c4f2d" /><Relationship Type="http://schemas.openxmlformats.org/officeDocument/2006/relationships/image" Target="/ppt/media/image6.png" Id="R5ad3eb7a5b614e12" /><Relationship Type="http://schemas.openxmlformats.org/officeDocument/2006/relationships/notesSlide" Target="/ppt/notesSlides/notesSlide4.xml" Id="R3950140e10cb45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758f92efd43f5" /><Relationship Type="http://schemas.openxmlformats.org/officeDocument/2006/relationships/image" Target="/ppt/media/image7.png" Id="Rba8dd9bc90e54288" /><Relationship Type="http://schemas.openxmlformats.org/officeDocument/2006/relationships/notesSlide" Target="/ppt/notesSlides/notesSlide5.xml" Id="R76ed74ebd07f46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8ed3731ef4f3a" /><Relationship Type="http://schemas.openxmlformats.org/officeDocument/2006/relationships/image" Target="/ppt/media/image8.png" Id="R35498826ba5c42b9" /><Relationship Type="http://schemas.openxmlformats.org/officeDocument/2006/relationships/image" Target="/ppt/media/image9.png" Id="R7ced42eac28d43f0" /><Relationship Type="http://schemas.openxmlformats.org/officeDocument/2006/relationships/notesSlide" Target="/ppt/notesSlides/notesSlide6.xml" Id="R30b54f5b418b40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e47903ca0444a" /><Relationship Type="http://schemas.openxmlformats.org/officeDocument/2006/relationships/image" Target="/ppt/media/image10.png" Id="R614e080b3c194c8b" /><Relationship Type="http://schemas.openxmlformats.org/officeDocument/2006/relationships/notesSlide" Target="/ppt/notesSlides/notesSlide7.xml" Id="R30da32caad5d42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8b284fc20414f" /><Relationship Type="http://schemas.openxmlformats.org/officeDocument/2006/relationships/image" Target="/ppt/media/image11.png" Id="Rbf003b13fa0046a1" /><Relationship Type="http://schemas.openxmlformats.org/officeDocument/2006/relationships/notesSlide" Target="/ppt/notesSlides/notesSlide8.xml" Id="R19938dcdd00944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47e4fe41d4d16" /><Relationship Type="http://schemas.openxmlformats.org/officeDocument/2006/relationships/image" Target="/ppt/media/image12.png" Id="Ra4b342c5012645c7" /><Relationship Type="http://schemas.openxmlformats.org/officeDocument/2006/relationships/notesSlide" Target="/ppt/notesSlides/notesSlide9.xml" Id="Rbb56172aeee048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a6c9193084f09" /><Relationship Type="http://schemas.openxmlformats.org/officeDocument/2006/relationships/image" Target="/ppt/media/image13.png" Id="R3ee5be8b3cde4e89" /><Relationship Type="http://schemas.openxmlformats.org/officeDocument/2006/relationships/notesSlide" Target="/ppt/notesSlides/notesSlide10.xml" Id="R52feaf41bccc48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d3fce75b74f71" /><Relationship Type="http://schemas.openxmlformats.org/officeDocument/2006/relationships/image" Target="/ppt/media/image14.png" Id="Ra0628bc3d3c94cae" /><Relationship Type="http://schemas.openxmlformats.org/officeDocument/2006/relationships/notesSlide" Target="/ppt/notesSlides/notesSlide11.xml" Id="R1a0001e135a04a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144f6d8af45ed" /><Relationship Type="http://schemas.openxmlformats.org/officeDocument/2006/relationships/image" Target="/ppt/media/image15.png" Id="R995082a342df4a8a" /><Relationship Type="http://schemas.openxmlformats.org/officeDocument/2006/relationships/notesSlide" Target="/ppt/notesSlides/notesSlide12.xml" Id="Re24c8a34a51141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d7ffad64f46b7" /><Relationship Type="http://schemas.openxmlformats.org/officeDocument/2006/relationships/image" Target="/ppt/media/image16.png" Id="R924b9403e5e04edd" /><Relationship Type="http://schemas.openxmlformats.org/officeDocument/2006/relationships/notesSlide" Target="/ppt/notesSlides/notesSlide13.xml" Id="Rd14ab4540909464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8af8d9e154512" /><Relationship Type="http://schemas.openxmlformats.org/officeDocument/2006/relationships/image" Target="/ppt/media/image17.png" Id="Ra80c0bcb7a6a4400" /><Relationship Type="http://schemas.openxmlformats.org/officeDocument/2006/relationships/notesSlide" Target="/ppt/notesSlides/notesSlide14.xml" Id="Ra4761a5ddfd44b8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4e55188284f34" /><Relationship Type="http://schemas.openxmlformats.org/officeDocument/2006/relationships/image" Target="/ppt/media/image18.png" Id="R05e3ffec6bba49e8" /><Relationship Type="http://schemas.openxmlformats.org/officeDocument/2006/relationships/notesSlide" Target="/ppt/notesSlides/notesSlide15.xml" Id="R9a9e4af47419464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a505eccde4317" /><Relationship Type="http://schemas.openxmlformats.org/officeDocument/2006/relationships/image" Target="/ppt/media/image19.png" Id="Rae7d8345d67e4278" /><Relationship Type="http://schemas.openxmlformats.org/officeDocument/2006/relationships/notesSlide" Target="/ppt/notesSlides/notesSlide16.xml" Id="R124a97cac36e432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74c6c1bbf4444" /><Relationship Type="http://schemas.openxmlformats.org/officeDocument/2006/relationships/image" Target="/ppt/media/image20.png" Id="R8df36bfa42f34b9f" /><Relationship Type="http://schemas.openxmlformats.org/officeDocument/2006/relationships/notesSlide" Target="/ppt/notesSlides/notesSlide17.xml" Id="R23b38778af904b2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e65f7eece4802" /><Relationship Type="http://schemas.openxmlformats.org/officeDocument/2006/relationships/image" Target="/ppt/media/image21.png" Id="R610830accc114ca5" /><Relationship Type="http://schemas.openxmlformats.org/officeDocument/2006/relationships/notesSlide" Target="/ppt/notesSlides/notesSlide18.xml" Id="Rb400f88a17fb46f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ad4edfd614f59" /><Relationship Type="http://schemas.openxmlformats.org/officeDocument/2006/relationships/image" Target="/ppt/media/image22.png" Id="R047393bad4654c7f" /><Relationship Type="http://schemas.openxmlformats.org/officeDocument/2006/relationships/notesSlide" Target="/ppt/notesSlides/notesSlide19.xml" Id="Rfd353512b50f4dd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30303efe4465d" /><Relationship Type="http://schemas.openxmlformats.org/officeDocument/2006/relationships/image" Target="/ppt/media/image23.png" Id="Ra1fa10cc99ba4cb8" /><Relationship Type="http://schemas.openxmlformats.org/officeDocument/2006/relationships/image" Target="/ppt/media/image24.png" Id="Rfb907aef6ad446cc" /><Relationship Type="http://schemas.openxmlformats.org/officeDocument/2006/relationships/notesSlide" Target="/ppt/notesSlides/notesSlide20.xml" Id="R28650eb7ec0f48c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0f434f2934f9a" /><Relationship Type="http://schemas.openxmlformats.org/officeDocument/2006/relationships/image" Target="/ppt/media/image25.png" Id="R4b9f04ff85944c21" /><Relationship Type="http://schemas.openxmlformats.org/officeDocument/2006/relationships/notesSlide" Target="/ppt/notesSlides/notesSlide21.xml" Id="R59df5f0cb79e439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81641105a4684" /><Relationship Type="http://schemas.openxmlformats.org/officeDocument/2006/relationships/image" Target="/ppt/media/image26.png" Id="R56dcd9a211c1443f" /><Relationship Type="http://schemas.openxmlformats.org/officeDocument/2006/relationships/image" Target="/ppt/media/image27.png" Id="R0b5887d97aa74740" /><Relationship Type="http://schemas.openxmlformats.org/officeDocument/2006/relationships/notesSlide" Target="/ppt/notesSlides/notesSlide22.xml" Id="R14769dc4ae9b467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5080e0bf549bc" /><Relationship Type="http://schemas.openxmlformats.org/officeDocument/2006/relationships/image" Target="/ppt/media/image28.png" Id="Rf4745f561b4c4f3d" /><Relationship Type="http://schemas.openxmlformats.org/officeDocument/2006/relationships/notesSlide" Target="/ppt/notesSlides/notesSlide23.xml" Id="R8ce06c1f5876497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a37492c234289" /><Relationship Type="http://schemas.openxmlformats.org/officeDocument/2006/relationships/image" Target="/ppt/media/image29.png" Id="Rfd41841a180e418d" /><Relationship Type="http://schemas.openxmlformats.org/officeDocument/2006/relationships/image" Target="/ppt/media/image30.png" Id="R6c92ff98fa574657" /><Relationship Type="http://schemas.openxmlformats.org/officeDocument/2006/relationships/notesSlide" Target="/ppt/notesSlides/notesSlide24.xml" Id="Rce3e54efe7a142e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a905c3cbe4cbb" /><Relationship Type="http://schemas.openxmlformats.org/officeDocument/2006/relationships/image" Target="/ppt/media/image31.png" Id="Rbe6951883bb14d36" /><Relationship Type="http://schemas.openxmlformats.org/officeDocument/2006/relationships/image" Target="/ppt/media/image32.png" Id="R9dc136cc9af248ab" /><Relationship Type="http://schemas.openxmlformats.org/officeDocument/2006/relationships/notesSlide" Target="/ppt/notesSlides/notesSlide25.xml" Id="Raef85ba8471c4a7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3448ed7f5453c" /><Relationship Type="http://schemas.openxmlformats.org/officeDocument/2006/relationships/image" Target="/ppt/media/image33.png" Id="R570b532e1b5d4f7b" /><Relationship Type="http://schemas.openxmlformats.org/officeDocument/2006/relationships/notesSlide" Target="/ppt/notesSlides/notesSlide26.xml" Id="R81554c7c1254478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e16783f954fb9" /><Relationship Type="http://schemas.openxmlformats.org/officeDocument/2006/relationships/image" Target="/ppt/media/image34.png" Id="R8d35aad3180d4019" /><Relationship Type="http://schemas.openxmlformats.org/officeDocument/2006/relationships/notesSlide" Target="/ppt/notesSlides/notesSlide27.xml" Id="Rd77c72a9a57c466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de3f646644d07" /><Relationship Type="http://schemas.openxmlformats.org/officeDocument/2006/relationships/image" Target="/ppt/media/image35.png" Id="Rbf99ba1bd8db40b3" /><Relationship Type="http://schemas.openxmlformats.org/officeDocument/2006/relationships/notesSlide" Target="/ppt/notesSlides/notesSlide28.xml" Id="Rcb053e728c0e442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d5c9cd4064859" /><Relationship Type="http://schemas.openxmlformats.org/officeDocument/2006/relationships/image" Target="/ppt/media/image36.png" Id="Rd02af83348fe47cc" /><Relationship Type="http://schemas.openxmlformats.org/officeDocument/2006/relationships/notesSlide" Target="/ppt/notesSlides/notesSlide29.xml" Id="R7902e48478db462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1206ff3b8493b" /><Relationship Type="http://schemas.openxmlformats.org/officeDocument/2006/relationships/image" Target="/ppt/media/image37.png" Id="Rb08708c078b646f9" /><Relationship Type="http://schemas.openxmlformats.org/officeDocument/2006/relationships/image" Target="/ppt/media/image38.png" Id="Re812cdaf8a2144c9" /><Relationship Type="http://schemas.openxmlformats.org/officeDocument/2006/relationships/notesSlide" Target="/ppt/notesSlides/notesSlide30.xml" Id="Rc35d0a30af0e4b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c5c397b48c4423"/>
          <a:stretch xmlns:a="http://schemas.openxmlformats.org/drawingml/2006/main"/>
        </p:blipFill>
        <p:spPr>
          <a:xfrm xmlns:a="http://schemas.openxmlformats.org/drawingml/2006/main">
            <a:off x="5143500" y="0"/>
            <a:ext cx="4000500" cy="4000500"/>
          </a:xfrm>
          <a:prstGeom xmlns:a="http://schemas.openxmlformats.org/drawingml/2006/main" prst="rect">
            <a:avLst/>
          </a:prstGeom>
        </p:spPr>
      </p:pic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80A94B68-6F48-4868-BC27-55BB515F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eb576429149b3"/>
          <a:stretch xmlns:a="http://schemas.openxmlformats.org/drawingml/2006/main"/>
        </p:blipFill>
        <p:spPr>
          <a:xfrm xmlns:a="http://schemas.openxmlformats.org/drawingml/2006/main">
            <a:off x="4953000" y="0"/>
            <a:ext cx="3095625" cy="5143500"/>
          </a:xfrm>
          <a:prstGeom xmlns:a="http://schemas.openxmlformats.org/drawingml/2006/main" prst="rect">
            <a:avLst/>
          </a:prstGeom>
        </p:spPr>
      </p:pic>
      <p:sp>
        <p:nvSpPr>
          <p:cNvPr id="4" name="To BIM,">
            <a:extLst xmlns:a="http://schemas.openxmlformats.org/drawingml/2006/main">
              <a:ext uri="{FF2B5EF4-FFF2-40B4-BE49-F238E27FC236}">
                <a16:creationId xmlns:a16="http://schemas.microsoft.com/office/drawing/2014/main" id="{8682A735-6580-4E6F-AADA-1F7166A5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4667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 BIM,</a:t>
            </a:r>
          </a:p>
          <a:p xmlns:a="http://schemas.openxmlformats.org/drawingml/2006/main">
            <a: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 not to BIM</a:t>
            </a:r>
          </a:p>
        </p:txBody>
      </p:sp>
      <p:sp>
        <p:nvSpPr>
          <p:cNvPr id="5" name="A BIM board game">
            <a:extLst xmlns:a="http://schemas.openxmlformats.org/drawingml/2006/main">
              <a:ext uri="{FF2B5EF4-FFF2-40B4-BE49-F238E27FC236}">
                <a16:creationId xmlns:a16="http://schemas.microsoft.com/office/drawing/2014/main" id="{81329CB3-20F6-4154-A472-2840AC8C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3377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A BIM board game</a:t>
            </a:r>
          </a:p>
          <a:p xmlns:a="http://schemas.openxmlformats.org/drawingml/2006/main">
            <a:pPr>
              <a:defRPr sz="18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for an AEC project</a:t>
            </a:r>
          </a:p>
        </p:txBody>
      </p:sp>
    </p:spTree>
    <p:extLst>
      <p:ext uri="{BB962C8B-B14F-4D97-AF65-F5344CB8AC3E}">
        <p14:creationId xmlns:p14="http://schemas.microsoft.com/office/powerpoint/2010/main" val="7990570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3e74ce6b8d40e0"/>
          <a:stretch xmlns:a="http://schemas.openxmlformats.org/drawingml/2006/main"/>
        </p:blipFill>
        <p:spPr>
          <a:xfrm xmlns:a="http://schemas.openxmlformats.org/drawingml/2006/main">
            <a:off x="7429500" y="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2" name="Before the game">
            <a:extLst xmlns:a="http://schemas.openxmlformats.org/drawingml/2006/main">
              <a:ext uri="{FF2B5EF4-FFF2-40B4-BE49-F238E27FC236}">
                <a16:creationId xmlns:a16="http://schemas.microsoft.com/office/drawing/2014/main" id="{50F4F025-7B1B-429F-8B38-BC7E1C60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 the game</a:t>
            </a:r>
          </a:p>
        </p:txBody>
      </p:sp>
      <p:sp>
        <p:nvSpPr>
          <p:cNvPr id="3" name="The TA forms 9 groups of 5 students and assigns ea">
            <a:extLst xmlns:a="http://schemas.openxmlformats.org/drawingml/2006/main">
              <a:ext uri="{FF2B5EF4-FFF2-40B4-BE49-F238E27FC236}">
                <a16:creationId xmlns:a16="http://schemas.microsoft.com/office/drawing/2014/main" id="{71DB36D3-17CE-425A-B318-78E58763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771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The TA forms 9 groups of 5 students and assigns each student a role.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8358451D-D6EE-415F-B028-41D4A4A8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2B779D75-4AEB-4054-A5E6-0B5D101E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lient">
            <a:extLst xmlns:a="http://schemas.openxmlformats.org/drawingml/2006/main">
              <a:ext uri="{FF2B5EF4-FFF2-40B4-BE49-F238E27FC236}">
                <a16:creationId xmlns:a16="http://schemas.microsoft.com/office/drawing/2014/main" id="{82BDDF9C-68B8-4208-BC11-CF6183D9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A7AF11BE-4166-4EF2-A18C-2D697417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621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Design team">
            <a:extLst xmlns:a="http://schemas.openxmlformats.org/drawingml/2006/main">
              <a:ext uri="{FF2B5EF4-FFF2-40B4-BE49-F238E27FC236}">
                <a16:creationId xmlns:a16="http://schemas.microsoft.com/office/drawing/2014/main" id="{9CE81F61-F1A6-4B5F-9FBC-E6660630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76550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Design team</a:t>
            </a:r>
          </a:p>
        </p:txBody>
      </p:sp>
      <p:sp>
        <p:nvSpPr>
          <p:cNvPr id="9" name="2">
            <a:extLst xmlns:a="http://schemas.openxmlformats.org/drawingml/2006/main">
              <a:ext uri="{FF2B5EF4-FFF2-40B4-BE49-F238E27FC236}">
                <a16:creationId xmlns:a16="http://schemas.microsoft.com/office/drawing/2014/main" id="{1C20BB68-C23C-441E-A71A-0C1C8523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ontractor">
            <a:extLst xmlns:a="http://schemas.openxmlformats.org/drawingml/2006/main">
              <a:ext uri="{FF2B5EF4-FFF2-40B4-BE49-F238E27FC236}">
                <a16:creationId xmlns:a16="http://schemas.microsoft.com/office/drawing/2014/main" id="{2940E64C-233E-420B-972F-85458DBD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Contractor</a:t>
            </a:r>
          </a:p>
        </p:txBody>
      </p:sp>
    </p:spTree>
    <p:extLst>
      <p:ext uri="{BB962C8B-B14F-4D97-AF65-F5344CB8AC3E}">
        <p14:creationId xmlns:p14="http://schemas.microsoft.com/office/powerpoint/2010/main" val="61247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39b843ab24e37"/>
          <a:stretch xmlns:a="http://schemas.openxmlformats.org/drawingml/2006/main"/>
        </p:blipFill>
        <p:spPr>
          <a:xfrm xmlns:a="http://schemas.openxmlformats.org/drawingml/2006/main">
            <a:off x="7429500" y="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2" name="The game process">
            <a:extLst xmlns:a="http://schemas.openxmlformats.org/drawingml/2006/main">
              <a:ext uri="{FF2B5EF4-FFF2-40B4-BE49-F238E27FC236}">
                <a16:creationId xmlns:a16="http://schemas.microsoft.com/office/drawing/2014/main" id="{D0D9CD73-6937-44A8-AB34-CC1FE58F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game process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0B5883AA-A525-484C-9B9C-2A0881C3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DESIGN">
            <a:extLst xmlns:a="http://schemas.openxmlformats.org/drawingml/2006/main">
              <a:ext uri="{FF2B5EF4-FFF2-40B4-BE49-F238E27FC236}">
                <a16:creationId xmlns:a16="http://schemas.microsoft.com/office/drawing/2014/main" id="{986FC420-7962-4EB4-8984-ACF1B57A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7B7B7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5" name="Project">
            <a:extLst xmlns:a="http://schemas.openxmlformats.org/drawingml/2006/main">
              <a:ext uri="{FF2B5EF4-FFF2-40B4-BE49-F238E27FC236}">
                <a16:creationId xmlns:a16="http://schemas.microsoft.com/office/drawing/2014/main" id="{E906B38B-01EF-4460-B8D0-AB3FFF12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planning</a:t>
            </a:r>
          </a:p>
        </p:txBody>
      </p:sp>
      <p:sp>
        <p:nvSpPr>
          <p:cNvPr id="6" name="Design team">
            <a:extLst xmlns:a="http://schemas.openxmlformats.org/drawingml/2006/main">
              <a:ext uri="{FF2B5EF4-FFF2-40B4-BE49-F238E27FC236}">
                <a16:creationId xmlns:a16="http://schemas.microsoft.com/office/drawing/2014/main" id="{C2108F3D-D4E5-488D-95EE-5B486EE0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762125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team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bidding</a:t>
            </a:r>
          </a:p>
        </p:txBody>
      </p:sp>
      <p:sp>
        <p:nvSpPr>
          <p:cNvPr id="7" name="Choose">
            <a:extLst xmlns:a="http://schemas.openxmlformats.org/drawingml/2006/main">
              <a:ext uri="{FF2B5EF4-FFF2-40B4-BE49-F238E27FC236}">
                <a16:creationId xmlns:a16="http://schemas.microsoft.com/office/drawing/2014/main" id="{50F85A7E-FEDC-48E6-9497-E0837B55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62125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architects</a:t>
            </a:r>
          </a:p>
        </p:txBody>
      </p:sp>
      <p:sp>
        <p:nvSpPr>
          <p:cNvPr id="8" name="Choose">
            <a:extLst xmlns:a="http://schemas.openxmlformats.org/drawingml/2006/main">
              <a:ext uri="{FF2B5EF4-FFF2-40B4-BE49-F238E27FC236}">
                <a16:creationId xmlns:a16="http://schemas.microsoft.com/office/drawing/2014/main" id="{53F3C248-906F-4117-B235-283229CE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62125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tools</a:t>
            </a:r>
          </a:p>
        </p:txBody>
      </p:sp>
      <p:sp>
        <p:nvSpPr>
          <p:cNvPr id="9" name="Deliver">
            <a:extLst xmlns:a="http://schemas.openxmlformats.org/drawingml/2006/main">
              <a:ext uri="{FF2B5EF4-FFF2-40B4-BE49-F238E27FC236}">
                <a16:creationId xmlns:a16="http://schemas.microsoft.com/office/drawing/2014/main" id="{8C4985E3-98A8-40F1-ADEE-0F2D094A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62125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Deliver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10" name="Quality">
            <a:extLst xmlns:a="http://schemas.openxmlformats.org/drawingml/2006/main">
              <a:ext uri="{FF2B5EF4-FFF2-40B4-BE49-F238E27FC236}">
                <a16:creationId xmlns:a16="http://schemas.microsoft.com/office/drawing/2014/main" id="{D0C15DA2-8DB1-4803-9A59-99CC17DA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62125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Quality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752600" y="20478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tailEnd type="arrow" w="sm" len="sm"/>
          </a:ln>
        </p:spPr>
      </p:cxn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05150" y="20478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457700" y="20478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10250" y="20478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162800" y="20478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tailEnd type="arrow" w="sm" len="sm"/>
          </a:ln>
        </p:spPr>
      </p:cxnSp>
      <p:sp>
        <p:nvSpPr>
          <p:cNvPr id="16" name="If quality misses the target, hire architects agai">
            <a:extLst xmlns:a="http://schemas.openxmlformats.org/drawingml/2006/main">
              <a:ext uri="{FF2B5EF4-FFF2-40B4-BE49-F238E27FC236}">
                <a16:creationId xmlns:a16="http://schemas.microsoft.com/office/drawing/2014/main" id="{777FB8D2-1E78-4753-8487-DECA0F0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If quality misses the target, hire architects again and repeat design.</a:t>
            </a:r>
          </a:p>
        </p:txBody>
      </p:sp>
      <p:sp>
        <p:nvSpPr>
          <p:cNvPr id="17" name="CONSTRUCTION">
            <a:extLst xmlns:a="http://schemas.openxmlformats.org/drawingml/2006/main">
              <a:ext uri="{FF2B5EF4-FFF2-40B4-BE49-F238E27FC236}">
                <a16:creationId xmlns:a16="http://schemas.microsoft.com/office/drawing/2014/main" id="{183D5F3D-CCB4-4EFE-BA6B-42E132AC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575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7B7B7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18" name="Begins after design approval">
            <a:extLst xmlns:a="http://schemas.openxmlformats.org/drawingml/2006/main">
              <a:ext uri="{FF2B5EF4-FFF2-40B4-BE49-F238E27FC236}">
                <a16:creationId xmlns:a16="http://schemas.microsoft.com/office/drawing/2014/main" id="{B7781570-9241-45C9-8108-ECF9223F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575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Begins after design approval</a:t>
            </a:r>
          </a:p>
        </p:txBody>
      </p:sp>
      <p:sp>
        <p:nvSpPr>
          <p:cNvPr id="19" name="Contractor">
            <a:extLst xmlns:a="http://schemas.openxmlformats.org/drawingml/2006/main">
              <a:ext uri="{FF2B5EF4-FFF2-40B4-BE49-F238E27FC236}">
                <a16:creationId xmlns:a16="http://schemas.microsoft.com/office/drawing/2014/main" id="{058C0560-3A7D-485A-8898-619D1F45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86150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Contractor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bidding</a:t>
            </a:r>
          </a:p>
        </p:txBody>
      </p:sp>
      <p:sp>
        <p:nvSpPr>
          <p:cNvPr id="20" name="Choose">
            <a:extLst xmlns:a="http://schemas.openxmlformats.org/drawingml/2006/main">
              <a:ext uri="{FF2B5EF4-FFF2-40B4-BE49-F238E27FC236}">
                <a16:creationId xmlns:a16="http://schemas.microsoft.com/office/drawing/2014/main" id="{700C4A17-3106-4253-BFA9-EECC7B7E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486150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engineers</a:t>
            </a:r>
          </a:p>
        </p:txBody>
      </p:sp>
      <p:sp>
        <p:nvSpPr>
          <p:cNvPr id="21" name="Choose">
            <a:extLst xmlns:a="http://schemas.openxmlformats.org/drawingml/2006/main">
              <a:ext uri="{FF2B5EF4-FFF2-40B4-BE49-F238E27FC236}">
                <a16:creationId xmlns:a16="http://schemas.microsoft.com/office/drawing/2014/main" id="{F6F9AB6F-B2A7-4B5B-B121-024AB22F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86150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tools</a:t>
            </a:r>
          </a:p>
        </p:txBody>
      </p:sp>
      <p:sp>
        <p:nvSpPr>
          <p:cNvPr id="22" name="Build">
            <a:extLst xmlns:a="http://schemas.openxmlformats.org/drawingml/2006/main">
              <a:ext uri="{FF2B5EF4-FFF2-40B4-BE49-F238E27FC236}">
                <a16:creationId xmlns:a16="http://schemas.microsoft.com/office/drawing/2014/main" id="{0B1F159E-F16E-41D4-8883-B303EAC7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86150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23" name="Check built">
            <a:extLst xmlns:a="http://schemas.openxmlformats.org/drawingml/2006/main">
              <a:ext uri="{FF2B5EF4-FFF2-40B4-BE49-F238E27FC236}">
                <a16:creationId xmlns:a16="http://schemas.microsoft.com/office/drawing/2014/main" id="{C590B1AA-7B88-4575-BAF9-E6E216D0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86150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 built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24" name="Project">
            <a:extLst xmlns:a="http://schemas.openxmlformats.org/drawingml/2006/main">
              <a:ext uri="{FF2B5EF4-FFF2-40B4-BE49-F238E27FC236}">
                <a16:creationId xmlns:a16="http://schemas.microsoft.com/office/drawing/2014/main" id="{36D04DCF-3C6A-4918-86BC-78D3739D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86150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completion</a:t>
            </a:r>
          </a:p>
        </p:txBody>
      </p:sp>
      <p:cxnSp>
        <p:nvCxnSpPr>
          <p:cNvPr id="55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752600" y="37719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tailEnd type="arrow" w="sm" len="sm"/>
          </a:ln>
        </p:spPr>
      </p:cxnSp>
      <p:cxnSp>
        <p:nvCxnSpPr>
          <p:cNvPr id="56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105150" y="37719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tailEnd type="arrow" w="sm" len="sm"/>
          </a:ln>
        </p:spPr>
      </p:cxnSp>
      <p:cxnSp>
        <p:nvCxnSpPr>
          <p:cNvPr id="57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457700" y="37719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tailEnd type="arrow" w="sm" len="sm"/>
          </a:ln>
        </p:spPr>
      </p:cxnSp>
      <p:cxnSp>
        <p:nvCxnSpPr>
          <p:cNvPr id="58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810250" y="37719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tailEnd type="arrow" w="sm" len="sm"/>
          </a:ln>
        </p:spPr>
      </p:cxnSp>
      <p:cxnSp>
        <p:nvCxnSpPr>
          <p:cNvPr id="59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162800" y="37719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tailEnd type="arrow" w="sm" len="sm"/>
          </a:ln>
        </p:spPr>
      </p:cxnSp>
      <p:sp>
        <p:nvSpPr>
          <p:cNvPr id="30" name="If quality misses the target, hire engineers again">
            <a:extLst xmlns:a="http://schemas.openxmlformats.org/drawingml/2006/main">
              <a:ext uri="{FF2B5EF4-FFF2-40B4-BE49-F238E27FC236}">
                <a16:creationId xmlns:a16="http://schemas.microsoft.com/office/drawing/2014/main" id="{99CB8D66-042A-47B1-904B-4B9D1B09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243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If quality misses the target, hire engineers again and repeat construction.</a:t>
            </a:r>
          </a:p>
        </p:txBody>
      </p:sp>
    </p:spTree>
    <p:extLst>
      <p:ext uri="{BB962C8B-B14F-4D97-AF65-F5344CB8AC3E}">
        <p14:creationId xmlns:p14="http://schemas.microsoft.com/office/powerpoint/2010/main" val="17329378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cc83f383c4f2d"/>
          <a:stretch xmlns:a="http://schemas.openxmlformats.org/drawingml/2006/main"/>
        </p:blipFill>
        <p:spPr>
          <a:xfrm xmlns:a="http://schemas.openxmlformats.org/drawingml/2006/main">
            <a:off x="7429500" y="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2" name="1. Project planning">
            <a:extLst xmlns:a="http://schemas.openxmlformats.org/drawingml/2006/main">
              <a:ext uri="{FF2B5EF4-FFF2-40B4-BE49-F238E27FC236}">
                <a16:creationId xmlns:a16="http://schemas.microsoft.com/office/drawing/2014/main" id="{91C06757-94D2-4770-B68A-398D3686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1. Project planning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7EA0FB28-5A03-4448-BE2F-68F9B5DD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Budget">
            <a:extLst xmlns:a="http://schemas.openxmlformats.org/drawingml/2006/main">
              <a:ext uri="{FF2B5EF4-FFF2-40B4-BE49-F238E27FC236}">
                <a16:creationId xmlns:a16="http://schemas.microsoft.com/office/drawing/2014/main" id="{F8EAC419-74B2-4E7A-A8BB-C32354F6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19275"/>
            <a:ext cx="442912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Budget</a:t>
            </a:r>
          </a:p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Quality</a:t>
            </a:r>
          </a:p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5" name="The client sets the targets using">
            <a:extLst xmlns:a="http://schemas.openxmlformats.org/drawingml/2006/main">
              <a:ext uri="{FF2B5EF4-FFF2-40B4-BE49-F238E27FC236}">
                <a16:creationId xmlns:a16="http://schemas.microsoft.com/office/drawing/2014/main" id="{7C4E3D90-4E83-4217-88A1-8772CFD3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762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The client sets the targets using</a:t>
            </a:r>
          </a:p>
          <a:p xmlns:a="http://schemas.openxmlformats.org/drawingml/2006/main">
            <a:pPr>
              <a:defRPr sz="180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information provided by the TA.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3eb7a5b614e12"/>
          <a:srcRect xmlns:a="http://schemas.openxmlformats.org/drawingml/2006/main" l="25446" t="0" r="254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0" y="1866900"/>
            <a:ext cx="3143250" cy="2333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793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dd9bc90e54288"/>
          <a:stretch xmlns:a="http://schemas.openxmlformats.org/drawingml/2006/main"/>
        </p:blipFill>
        <p:spPr>
          <a:xfrm xmlns:a="http://schemas.openxmlformats.org/drawingml/2006/main">
            <a:off x="7429500" y="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2" name="Project budget">
            <a:extLst xmlns:a="http://schemas.openxmlformats.org/drawingml/2006/main">
              <a:ext uri="{FF2B5EF4-FFF2-40B4-BE49-F238E27FC236}">
                <a16:creationId xmlns:a16="http://schemas.microsoft.com/office/drawing/2014/main" id="{35724D61-B0E0-4416-B4FD-CF68CE96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budget</a:t>
            </a:r>
          </a:p>
        </p:txBody>
      </p:sp>
      <p:sp>
        <p:nvSpPr>
          <p:cNvPr id="3" name="Design fees are approximately 20% of construction ">
            <a:extLst xmlns:a="http://schemas.openxmlformats.org/drawingml/2006/main">
              <a:ext uri="{FF2B5EF4-FFF2-40B4-BE49-F238E27FC236}">
                <a16:creationId xmlns:a16="http://schemas.microsoft.com/office/drawing/2014/main" id="{5A70AAEF-C6CA-47E9-9096-2D7AEB44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771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Design fees are approximately 20% of construction fees.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7A713EBF-7379-410B-898C-19930186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$1,000">
            <a:extLst xmlns:a="http://schemas.openxmlformats.org/drawingml/2006/main">
              <a:ext uri="{FF2B5EF4-FFF2-40B4-BE49-F238E27FC236}">
                <a16:creationId xmlns:a16="http://schemas.microsoft.com/office/drawing/2014/main" id="{F36B50A1-6289-4C64-AD60-A435B30B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$1,000</a:t>
            </a:r>
          </a:p>
        </p:txBody>
      </p:sp>
      <p:sp>
        <p:nvSpPr>
          <p:cNvPr id="6" name="Construction fee">
            <a:extLst xmlns:a="http://schemas.openxmlformats.org/drawingml/2006/main">
              <a:ext uri="{FF2B5EF4-FFF2-40B4-BE49-F238E27FC236}">
                <a16:creationId xmlns:a16="http://schemas.microsoft.com/office/drawing/2014/main" id="{4FE3D0B3-3CCC-426D-B80B-6D8A550E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Construction fee</a:t>
            </a:r>
          </a:p>
        </p:txBody>
      </p:sp>
      <p:sp>
        <p:nvSpPr>
          <p:cNvPr id="7" name="$200">
            <a:extLst xmlns:a="http://schemas.openxmlformats.org/drawingml/2006/main">
              <a:ext uri="{FF2B5EF4-FFF2-40B4-BE49-F238E27FC236}">
                <a16:creationId xmlns:a16="http://schemas.microsoft.com/office/drawing/2014/main" id="{B2665C63-F808-4F4E-A837-ABDB4F24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526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$200</a:t>
            </a:r>
          </a:p>
        </p:txBody>
      </p:sp>
      <p:sp>
        <p:nvSpPr>
          <p:cNvPr id="8" name="Design fee">
            <a:extLst xmlns:a="http://schemas.openxmlformats.org/drawingml/2006/main">
              <a:ext uri="{FF2B5EF4-FFF2-40B4-BE49-F238E27FC236}">
                <a16:creationId xmlns:a16="http://schemas.microsoft.com/office/drawing/2014/main" id="{6B70C0E6-A762-4226-A11F-970051A0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67050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Design fee</a:t>
            </a:r>
          </a:p>
        </p:txBody>
      </p:sp>
      <p:sp>
        <p:nvSpPr>
          <p:cNvPr id="9" name="$1,200">
            <a:extLst xmlns:a="http://schemas.openxmlformats.org/drawingml/2006/main">
              <a:ext uri="{FF2B5EF4-FFF2-40B4-BE49-F238E27FC236}">
                <a16:creationId xmlns:a16="http://schemas.microsoft.com/office/drawing/2014/main" id="{D5F6834B-B8D0-4934-8193-0E4C54F9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$1,200</a:t>
            </a:r>
          </a:p>
        </p:txBody>
      </p:sp>
      <p:sp>
        <p:nvSpPr>
          <p:cNvPr id="10" name="Total budget">
            <a:extLst xmlns:a="http://schemas.openxmlformats.org/drawingml/2006/main">
              <a:ext uri="{FF2B5EF4-FFF2-40B4-BE49-F238E27FC236}">
                <a16:creationId xmlns:a16="http://schemas.microsoft.com/office/drawing/2014/main" id="{5F1DD8DE-FB90-4253-964A-AFDB4009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Total budget</a:t>
            </a:r>
          </a:p>
        </p:txBody>
      </p:sp>
      <p:sp>
        <p:nvSpPr>
          <p:cNvPr id="11" name="Total budget = 1.20 × construction fee">
            <a:extLst xmlns:a="http://schemas.openxmlformats.org/drawingml/2006/main">
              <a:ext uri="{FF2B5EF4-FFF2-40B4-BE49-F238E27FC236}">
                <a16:creationId xmlns:a16="http://schemas.microsoft.com/office/drawing/2014/main" id="{BA4AA7BD-58E0-4D8C-96BE-9AE55806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9575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Total budget = 1.20 × construction fee</a:t>
            </a:r>
          </a:p>
        </p:txBody>
      </p:sp>
    </p:spTree>
    <p:extLst>
      <p:ext uri="{BB962C8B-B14F-4D97-AF65-F5344CB8AC3E}">
        <p14:creationId xmlns:p14="http://schemas.microsoft.com/office/powerpoint/2010/main" val="11484911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98826ba5c42b9"/>
          <a:stretch xmlns:a="http://schemas.openxmlformats.org/drawingml/2006/main"/>
        </p:blipFill>
        <p:spPr>
          <a:xfrm xmlns:a="http://schemas.openxmlformats.org/drawingml/2006/main">
            <a:off x="7429500" y="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2" name="2. Design team bidding">
            <a:extLst xmlns:a="http://schemas.openxmlformats.org/drawingml/2006/main">
              <a:ext uri="{FF2B5EF4-FFF2-40B4-BE49-F238E27FC236}">
                <a16:creationId xmlns:a16="http://schemas.microsoft.com/office/drawing/2014/main" id="{3E47312C-CB28-4F85-B512-725C24F1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2. Design team bidding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C168430B-A5CB-40B5-9C21-21E9A06E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The client shares">
            <a:extLst xmlns:a="http://schemas.openxmlformats.org/drawingml/2006/main">
              <a:ext uri="{FF2B5EF4-FFF2-40B4-BE49-F238E27FC236}">
                <a16:creationId xmlns:a16="http://schemas.microsoft.com/office/drawing/2014/main" id="{9B7574C2-EF56-4D77-AC7C-3EC8C7B3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447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client shares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project brief.</a:t>
            </a:r>
          </a:p>
        </p:txBody>
      </p:sp>
      <p:sp>
        <p:nvSpPr>
          <p:cNvPr id="5" name="The design team proposes">
            <a:extLst xmlns:a="http://schemas.openxmlformats.org/drawingml/2006/main">
              <a:ext uri="{FF2B5EF4-FFF2-40B4-BE49-F238E27FC236}">
                <a16:creationId xmlns:a16="http://schemas.microsoft.com/office/drawing/2014/main" id="{92D43ABA-B100-4FFF-9FBD-F2DED055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The design team proposes</a:t>
            </a:r>
          </a:p>
          <a:p xmlns:a="http://schemas.openxmlformats.org/drawingml/2006/main">
            <a:pPr>
              <a:defRPr sz="202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outcomes and a service fee.</a:t>
            </a:r>
          </a:p>
        </p:txBody>
      </p:sp>
      <p:sp>
        <p:nvSpPr>
          <p:cNvPr id="6" name="Both parties reach an agreement.">
            <a:extLst xmlns:a="http://schemas.openxmlformats.org/drawingml/2006/main">
              <a:ext uri="{FF2B5EF4-FFF2-40B4-BE49-F238E27FC236}">
                <a16:creationId xmlns:a16="http://schemas.microsoft.com/office/drawing/2014/main" id="{263E71E8-FFA0-466D-ADEF-5676CCB3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Both parties reach an agreement.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ed42eac28d43f0"/>
          <a:srcRect xmlns:a="http://schemas.openxmlformats.org/drawingml/2006/main" l="7790" t="0" r="77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38800" y="1600200"/>
            <a:ext cx="2933700" cy="2952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3237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4e080b3c194c8b"/>
          <a:stretch xmlns:a="http://schemas.openxmlformats.org/drawingml/2006/main"/>
        </p:blipFill>
        <p:spPr>
          <a:xfrm xmlns:a="http://schemas.openxmlformats.org/drawingml/2006/main">
            <a:off x="7429500" y="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2" name="3. Project design">
            <a:extLst xmlns:a="http://schemas.openxmlformats.org/drawingml/2006/main">
              <a:ext uri="{FF2B5EF4-FFF2-40B4-BE49-F238E27FC236}">
                <a16:creationId xmlns:a16="http://schemas.microsoft.com/office/drawing/2014/main" id="{BB1F3723-7DBD-4D9F-A9E1-916E16A7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3. Project design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44AAA3C9-139E-42F8-8A54-6A86E4E3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Choose architects">
            <a:extLst xmlns:a="http://schemas.openxmlformats.org/drawingml/2006/main">
              <a:ext uri="{FF2B5EF4-FFF2-40B4-BE49-F238E27FC236}">
                <a16:creationId xmlns:a16="http://schemas.microsoft.com/office/drawing/2014/main" id="{B7A54E06-CE3B-4960-A738-805D3ADE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 architects</a:t>
            </a:r>
          </a:p>
        </p:txBody>
      </p:sp>
      <p:sp>
        <p:nvSpPr>
          <p:cNvPr id="5" name="Choose tools">
            <a:extLst xmlns:a="http://schemas.openxmlformats.org/drawingml/2006/main">
              <a:ext uri="{FF2B5EF4-FFF2-40B4-BE49-F238E27FC236}">
                <a16:creationId xmlns:a16="http://schemas.microsoft.com/office/drawing/2014/main" id="{C878AF70-0F15-4928-84DF-5548AC01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241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 tools</a:t>
            </a:r>
          </a:p>
        </p:txBody>
      </p:sp>
      <p:sp>
        <p:nvSpPr>
          <p:cNvPr id="6" name="Deliver design">
            <a:extLst xmlns:a="http://schemas.openxmlformats.org/drawingml/2006/main">
              <a:ext uri="{FF2B5EF4-FFF2-40B4-BE49-F238E27FC236}">
                <a16:creationId xmlns:a16="http://schemas.microsoft.com/office/drawing/2014/main" id="{A2BB1C90-9F48-4658-AAA8-FEFA8B30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Deliver design</a:t>
            </a:r>
          </a:p>
        </p:txBody>
      </p:sp>
      <p:cxnSp>
        <p:nvCxnSpPr>
          <p:cNvPr id="1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62250" y="26289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tailEnd type="arrow" w="sm" len="sm"/>
          </a:ln>
        </p:spPr>
      </p:cxnSp>
      <p:cxnSp>
        <p:nvCxnSpPr>
          <p:cNvPr id="1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524500" y="26289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tailEnd type="arrow" w="sm" len="sm"/>
          </a:ln>
        </p:spPr>
      </p:cxnSp>
      <p:sp>
        <p:nvSpPr>
          <p:cNvPr id="9" name="Pay the architect cost">
            <a:extLst xmlns:a="http://schemas.openxmlformats.org/drawingml/2006/main">
              <a:ext uri="{FF2B5EF4-FFF2-40B4-BE49-F238E27FC236}">
                <a16:creationId xmlns:a16="http://schemas.microsoft.com/office/drawing/2014/main" id="{A49D3587-2F8A-43EB-95E1-9F5BDEA6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220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Pay the architect cost</a:t>
            </a:r>
          </a:p>
        </p:txBody>
      </p:sp>
      <p:sp>
        <p:nvSpPr>
          <p:cNvPr id="10" name="Pay the tool cost">
            <a:extLst xmlns:a="http://schemas.openxmlformats.org/drawingml/2006/main">
              <a:ext uri="{FF2B5EF4-FFF2-40B4-BE49-F238E27FC236}">
                <a16:creationId xmlns:a16="http://schemas.microsoft.com/office/drawing/2014/main" id="{3922B73A-B429-4389-86B1-5AA8A3D5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00400"/>
            <a:ext cx="220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Pay the tool cost</a:t>
            </a:r>
          </a:p>
        </p:txBody>
      </p:sp>
      <p:sp>
        <p:nvSpPr>
          <p:cNvPr id="11" name="Record quality and time">
            <a:extLst xmlns:a="http://schemas.openxmlformats.org/drawingml/2006/main">
              <a:ext uri="{FF2B5EF4-FFF2-40B4-BE49-F238E27FC236}">
                <a16:creationId xmlns:a16="http://schemas.microsoft.com/office/drawing/2014/main" id="{70BF667C-0887-43B7-AEB5-B56FA4E5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00400"/>
            <a:ext cx="220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Record quality and time</a:t>
            </a:r>
          </a:p>
        </p:txBody>
      </p:sp>
    </p:spTree>
    <p:extLst>
      <p:ext uri="{BB962C8B-B14F-4D97-AF65-F5344CB8AC3E}">
        <p14:creationId xmlns:p14="http://schemas.microsoft.com/office/powerpoint/2010/main" val="816158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03b13fa0046a1"/>
          <a:stretch xmlns:a="http://schemas.openxmlformats.org/drawingml/2006/main"/>
        </p:blipFill>
        <p:spPr>
          <a:xfrm xmlns:a="http://schemas.openxmlformats.org/drawingml/2006/main">
            <a:off x="7429500" y="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2" name="Architect choices">
            <a:extLst xmlns:a="http://schemas.openxmlformats.org/drawingml/2006/main">
              <a:ext uri="{FF2B5EF4-FFF2-40B4-BE49-F238E27FC236}">
                <a16:creationId xmlns:a16="http://schemas.microsoft.com/office/drawing/2014/main" id="{0C2F6070-6C83-4F70-B4D1-946C33B8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Architect choices</a:t>
            </a:r>
          </a:p>
        </p:txBody>
      </p:sp>
      <p:sp>
        <p:nvSpPr>
          <p:cNvPr id="3" name="The design team chooses a type. Costs and outcome ">
            <a:extLst xmlns:a="http://schemas.openxmlformats.org/drawingml/2006/main">
              <a:ext uri="{FF2B5EF4-FFF2-40B4-BE49-F238E27FC236}">
                <a16:creationId xmlns:a16="http://schemas.microsoft.com/office/drawing/2014/main" id="{CA81E8A2-B759-49BA-B5B3-4F9DA0B2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771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The design team chooses a type. Costs and outcome probabilities differ.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67CA3479-7B85-452C-8E57-CA61382E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Super">
            <a:extLst xmlns:a="http://schemas.openxmlformats.org/drawingml/2006/main">
              <a:ext uri="{FF2B5EF4-FFF2-40B4-BE49-F238E27FC236}">
                <a16:creationId xmlns:a16="http://schemas.microsoft.com/office/drawing/2014/main" id="{5A5CA5FB-9092-4B63-9508-FA8CB415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Super</a:t>
            </a:r>
          </a:p>
        </p:txBody>
      </p:sp>
      <p:sp>
        <p:nvSpPr>
          <p:cNvPr id="6" name="Architect">
            <a:extLst xmlns:a="http://schemas.openxmlformats.org/drawingml/2006/main">
              <a:ext uri="{FF2B5EF4-FFF2-40B4-BE49-F238E27FC236}">
                <a16:creationId xmlns:a16="http://schemas.microsoft.com/office/drawing/2014/main" id="{83C8E080-771A-4586-BABB-4A18DF15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574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Architect</a:t>
            </a:r>
          </a:p>
        </p:txBody>
      </p:sp>
      <p:sp>
        <p:nvSpPr>
          <p:cNvPr id="7" name="Green die">
            <a:extLst xmlns:a="http://schemas.openxmlformats.org/drawingml/2006/main">
              <a:ext uri="{FF2B5EF4-FFF2-40B4-BE49-F238E27FC236}">
                <a16:creationId xmlns:a16="http://schemas.microsoft.com/office/drawing/2014/main" id="{97E0C367-9656-4FB5-8BD7-6F582EB8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242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9CF8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9CF84"/>
                </a:solidFill>
                <a:latin typeface="Arial"/>
                <a:ea typeface="Arial"/>
                <a:cs typeface="Arial"/>
              </a:rPr>
              <a:t>Green die</a:t>
            </a:r>
          </a:p>
        </p:txBody>
      </p:sp>
      <p:sp>
        <p:nvSpPr>
          <p:cNvPr id="8" name="Cost: $?">
            <a:extLst xmlns:a="http://schemas.openxmlformats.org/drawingml/2006/main">
              <a:ext uri="{FF2B5EF4-FFF2-40B4-BE49-F238E27FC236}">
                <a16:creationId xmlns:a16="http://schemas.microsoft.com/office/drawing/2014/main" id="{5CE71CFA-057B-436D-AF49-0CE33B58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Cost: $?</a:t>
            </a:r>
          </a:p>
        </p:txBody>
      </p:sp>
      <p:sp>
        <p:nvSpPr>
          <p:cNvPr id="9" name="Senior">
            <a:extLst xmlns:a="http://schemas.openxmlformats.org/drawingml/2006/main">
              <a:ext uri="{FF2B5EF4-FFF2-40B4-BE49-F238E27FC236}">
                <a16:creationId xmlns:a16="http://schemas.microsoft.com/office/drawing/2014/main" id="{30A8384D-66CB-4925-9D5D-55C0DA46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Senior</a:t>
            </a:r>
          </a:p>
        </p:txBody>
      </p:sp>
      <p:sp>
        <p:nvSpPr>
          <p:cNvPr id="10" name="Architect">
            <a:extLst xmlns:a="http://schemas.openxmlformats.org/drawingml/2006/main">
              <a:ext uri="{FF2B5EF4-FFF2-40B4-BE49-F238E27FC236}">
                <a16:creationId xmlns:a16="http://schemas.microsoft.com/office/drawing/2014/main" id="{94765D32-15D0-4A6B-9BAA-072CB470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574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Architect</a:t>
            </a:r>
          </a:p>
        </p:txBody>
      </p:sp>
      <p:sp>
        <p:nvSpPr>
          <p:cNvPr id="11" name="Yellow die">
            <a:extLst xmlns:a="http://schemas.openxmlformats.org/drawingml/2006/main">
              <a:ext uri="{FF2B5EF4-FFF2-40B4-BE49-F238E27FC236}">
                <a16:creationId xmlns:a16="http://schemas.microsoft.com/office/drawing/2014/main" id="{940956BE-0873-4C21-8FB2-043537E7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242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BC3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BC35E"/>
                </a:solidFill>
                <a:latin typeface="Arial"/>
                <a:ea typeface="Arial"/>
                <a:cs typeface="Arial"/>
              </a:rPr>
              <a:t>Yellow die</a:t>
            </a:r>
          </a:p>
        </p:txBody>
      </p:sp>
      <p:sp>
        <p:nvSpPr>
          <p:cNvPr id="12" name="Cost: $?">
            <a:extLst xmlns:a="http://schemas.openxmlformats.org/drawingml/2006/main">
              <a:ext uri="{FF2B5EF4-FFF2-40B4-BE49-F238E27FC236}">
                <a16:creationId xmlns:a16="http://schemas.microsoft.com/office/drawing/2014/main" id="{DD6CF17A-3F2A-428D-BDFF-2425ED85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05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Cost: $?</a:t>
            </a:r>
          </a:p>
        </p:txBody>
      </p:sp>
      <p:sp>
        <p:nvSpPr>
          <p:cNvPr id="13" name="Junior">
            <a:extLst xmlns:a="http://schemas.openxmlformats.org/drawingml/2006/main">
              <a:ext uri="{FF2B5EF4-FFF2-40B4-BE49-F238E27FC236}">
                <a16:creationId xmlns:a16="http://schemas.microsoft.com/office/drawing/2014/main" id="{271314CA-E129-43F5-A1E4-AE3A3860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Junior</a:t>
            </a:r>
          </a:p>
        </p:txBody>
      </p:sp>
      <p:sp>
        <p:nvSpPr>
          <p:cNvPr id="14" name="Architect">
            <a:extLst xmlns:a="http://schemas.openxmlformats.org/drawingml/2006/main">
              <a:ext uri="{FF2B5EF4-FFF2-40B4-BE49-F238E27FC236}">
                <a16:creationId xmlns:a16="http://schemas.microsoft.com/office/drawing/2014/main" id="{D1313BED-A1AE-4DD9-9608-203DF119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574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Architect</a:t>
            </a:r>
          </a:p>
        </p:txBody>
      </p:sp>
      <p:sp>
        <p:nvSpPr>
          <p:cNvPr id="15" name="Red die">
            <a:extLst xmlns:a="http://schemas.openxmlformats.org/drawingml/2006/main">
              <a:ext uri="{FF2B5EF4-FFF2-40B4-BE49-F238E27FC236}">
                <a16:creationId xmlns:a16="http://schemas.microsoft.com/office/drawing/2014/main" id="{742C0E34-85CC-4111-997F-C47EDD37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242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E8D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E8D83"/>
                </a:solidFill>
                <a:latin typeface="Arial"/>
                <a:ea typeface="Arial"/>
                <a:cs typeface="Arial"/>
              </a:rPr>
              <a:t>Red die</a:t>
            </a:r>
          </a:p>
        </p:txBody>
      </p:sp>
      <p:sp>
        <p:nvSpPr>
          <p:cNvPr id="16" name="Cost: $?">
            <a:extLst xmlns:a="http://schemas.openxmlformats.org/drawingml/2006/main">
              <a:ext uri="{FF2B5EF4-FFF2-40B4-BE49-F238E27FC236}">
                <a16:creationId xmlns:a16="http://schemas.microsoft.com/office/drawing/2014/main" id="{5557A37C-11C0-46F5-9EF5-B6F94FD3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Cost: $?</a:t>
            </a:r>
          </a:p>
        </p:txBody>
      </p:sp>
    </p:spTree>
    <p:extLst>
      <p:ext uri="{BB962C8B-B14F-4D97-AF65-F5344CB8AC3E}">
        <p14:creationId xmlns:p14="http://schemas.microsoft.com/office/powerpoint/2010/main" val="15384442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342c5012645c7"/>
          <a:stretch xmlns:a="http://schemas.openxmlformats.org/drawingml/2006/main"/>
        </p:blipFill>
        <p:spPr>
          <a:xfrm xmlns:a="http://schemas.openxmlformats.org/drawingml/2006/main">
            <a:off x="7429500" y="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2" name="Architect outcomes">
            <a:extLst xmlns:a="http://schemas.openxmlformats.org/drawingml/2006/main">
              <a:ext uri="{FF2B5EF4-FFF2-40B4-BE49-F238E27FC236}">
                <a16:creationId xmlns:a16="http://schemas.microsoft.com/office/drawing/2014/main" id="{42899FE0-CC78-4B4E-B3F4-222F7BD2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Architect outcomes</a:t>
            </a:r>
          </a:p>
        </p:txBody>
      </p:sp>
      <p:sp>
        <p:nvSpPr>
          <p:cNvPr id="3" name="Each outcome combines quality gained and time used">
            <a:extLst xmlns:a="http://schemas.openxmlformats.org/drawingml/2006/main">
              <a:ext uri="{FF2B5EF4-FFF2-40B4-BE49-F238E27FC236}">
                <a16:creationId xmlns:a16="http://schemas.microsoft.com/office/drawing/2014/main" id="{2159DB42-8C86-4DE8-BD9B-6A57A35A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771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Each outcome combines quality gained and time used. Values are per roll.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C7FD8675-5818-4BD9-BED0-6A5C807C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8001000" cy="2038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952500"/>
                <a:gridCol w="2000250"/>
                <a:gridCol w="2047875"/>
                <a:gridCol w="2047875"/>
              </a:tblGrid>
              <a:tr h="466725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Quality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Time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A9CF84"/>
                          </a:solidFill>
                          <a:latin typeface="Arial"/>
                          <a:ea typeface="Arial"/>
                          <a:cs typeface="Arial"/>
                        </a:rPr>
                        <a:t>Super / Green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EBC35E"/>
                          </a:solidFill>
                          <a:latin typeface="Arial"/>
                          <a:ea typeface="Arial"/>
                          <a:cs typeface="Arial"/>
                        </a:rPr>
                        <a:t>Senior / Yellow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DE8D83"/>
                          </a:solidFill>
                          <a:latin typeface="Arial"/>
                          <a:ea typeface="Arial"/>
                          <a:cs typeface="Arial"/>
                        </a:rPr>
                        <a:t>Junior / Red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A9CF84"/>
                          </a:solidFill>
                          <a:latin typeface="Arial"/>
                          <a:ea typeface="Arial"/>
                          <a:cs typeface="Arial"/>
                        </a:rPr>
                        <a:t>4/6 (66%)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EBC35E"/>
                          </a:solidFill>
                          <a:latin typeface="Arial"/>
                          <a:ea typeface="Arial"/>
                          <a:cs typeface="Arial"/>
                        </a:rPr>
                        <a:t>2/6 (33%)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DE8D83"/>
                          </a:solidFill>
                          <a:latin typeface="Arial"/>
                          <a:ea typeface="Arial"/>
                          <a:cs typeface="Arial"/>
                        </a:rPr>
                        <a:t>1/6 (17%)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A9CF84"/>
                          </a:solidFill>
                          <a:latin typeface="Arial"/>
                          <a:ea typeface="Arial"/>
                          <a:cs typeface="Arial"/>
                        </a:rPr>
                        <a:t>1/6 (17%)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EBC35E"/>
                          </a:solidFill>
                          <a:latin typeface="Arial"/>
                          <a:ea typeface="Arial"/>
                          <a:cs typeface="Arial"/>
                        </a:rPr>
                        <a:t>2/6 (33%)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DE8D83"/>
                          </a:solidFill>
                          <a:latin typeface="Arial"/>
                          <a:ea typeface="Arial"/>
                          <a:cs typeface="Arial"/>
                        </a:rPr>
                        <a:t>1/6 (17%)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A9CF84"/>
                          </a:solidFill>
                          <a:latin typeface="Arial"/>
                          <a:ea typeface="Arial"/>
                          <a:cs typeface="Arial"/>
                        </a:rPr>
                        <a:t>1/6 (17%)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EBC35E"/>
                          </a:solidFill>
                          <a:latin typeface="Arial"/>
                          <a:ea typeface="Arial"/>
                          <a:cs typeface="Arial"/>
                        </a:rPr>
                        <a:t>2/6 (33%)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DE8D83"/>
                          </a:solidFill>
                          <a:latin typeface="Arial"/>
                          <a:ea typeface="Arial"/>
                          <a:cs typeface="Arial"/>
                        </a:rPr>
                        <a:t>4/6 (66%)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</a:tr>
            </a:tbl>
          </a:graphicData>
        </a:graphic>
      </p:graphicFrame>
      <p:sp>
        <p:nvSpPr>
          <p:cNvPr id="6" name="A super architect has a ⅔ chance of 3 quality unit">
            <a:extLst xmlns:a="http://schemas.openxmlformats.org/drawingml/2006/main">
              <a:ext uri="{FF2B5EF4-FFF2-40B4-BE49-F238E27FC236}">
                <a16:creationId xmlns:a16="http://schemas.microsoft.com/office/drawing/2014/main" id="{AD9091CF-435E-4F76-AC20-FCF80B9E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5767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super architect has a ⅔ chance of 3 quality units in 1 time unit.</a:t>
            </a:r>
          </a:p>
        </p:txBody>
      </p:sp>
    </p:spTree>
    <p:extLst>
      <p:ext uri="{BB962C8B-B14F-4D97-AF65-F5344CB8AC3E}">
        <p14:creationId xmlns:p14="http://schemas.microsoft.com/office/powerpoint/2010/main" val="21871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5be8b3cde4e89"/>
          <a:stretch xmlns:a="http://schemas.openxmlformats.org/drawingml/2006/main"/>
        </p:blipFill>
        <p:spPr>
          <a:xfrm xmlns:a="http://schemas.openxmlformats.org/drawingml/2006/main">
            <a:off x="7429500" y="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2" name="Tools for design">
            <a:extLst xmlns:a="http://schemas.openxmlformats.org/drawingml/2006/main">
              <a:ext uri="{FF2B5EF4-FFF2-40B4-BE49-F238E27FC236}">
                <a16:creationId xmlns:a16="http://schemas.microsoft.com/office/drawing/2014/main" id="{7402671F-BDF3-45DA-A0B7-B1B9FFF0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Tools for design</a:t>
            </a:r>
          </a:p>
        </p:txBody>
      </p:sp>
      <p:sp>
        <p:nvSpPr>
          <p:cNvPr id="3" name="Choose a tool. Its cost and outcome probabilities ">
            <a:extLst xmlns:a="http://schemas.openxmlformats.org/drawingml/2006/main">
              <a:ext uri="{FF2B5EF4-FFF2-40B4-BE49-F238E27FC236}">
                <a16:creationId xmlns:a16="http://schemas.microsoft.com/office/drawing/2014/main" id="{BEC6BFD4-FC60-437F-BB5E-3576BD10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771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Choose a tool. Its cost and outcome probabilities affect the project.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4B7E6CAB-EDE6-4DF6-9DA1-F497CF9F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BIM">
            <a:extLst xmlns:a="http://schemas.openxmlformats.org/drawingml/2006/main">
              <a:ext uri="{FF2B5EF4-FFF2-40B4-BE49-F238E27FC236}">
                <a16:creationId xmlns:a16="http://schemas.microsoft.com/office/drawing/2014/main" id="{316C5C68-B1AF-4662-8BAB-6D05552C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371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BIM</a:t>
            </a:r>
          </a:p>
        </p:txBody>
      </p:sp>
      <p:sp>
        <p:nvSpPr>
          <p:cNvPr id="6" name="Building Information">
            <a:extLst xmlns:a="http://schemas.openxmlformats.org/drawingml/2006/main">
              <a:ext uri="{FF2B5EF4-FFF2-40B4-BE49-F238E27FC236}">
                <a16:creationId xmlns:a16="http://schemas.microsoft.com/office/drawing/2014/main" id="{06BE9279-D5F4-4DF2-998A-8F99F9DD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3619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Building Information</a:t>
            </a:r>
          </a:p>
          <a:p xmlns:a="http://schemas.openxmlformats.org/drawingml/2006/main">
            <a:pPr>
              <a:defRPr sz="180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Modelling</a:t>
            </a:r>
          </a:p>
        </p:txBody>
      </p:sp>
      <p:sp>
        <p:nvSpPr>
          <p:cNvPr id="7" name="Green die">
            <a:extLst xmlns:a="http://schemas.openxmlformats.org/drawingml/2006/main">
              <a:ext uri="{FF2B5EF4-FFF2-40B4-BE49-F238E27FC236}">
                <a16:creationId xmlns:a16="http://schemas.microsoft.com/office/drawing/2014/main" id="{84915BCF-6B94-47E6-851A-785FA12E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95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A9CF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9CF84"/>
                </a:solidFill>
                <a:latin typeface="Arial"/>
                <a:ea typeface="Arial"/>
                <a:cs typeface="Arial"/>
              </a:rPr>
              <a:t>Green die</a:t>
            </a:r>
          </a:p>
        </p:txBody>
      </p:sp>
      <p:sp>
        <p:nvSpPr>
          <p:cNvPr id="8" name="Cost: $?">
            <a:extLst xmlns:a="http://schemas.openxmlformats.org/drawingml/2006/main">
              <a:ext uri="{FF2B5EF4-FFF2-40B4-BE49-F238E27FC236}">
                <a16:creationId xmlns:a16="http://schemas.microsoft.com/office/drawing/2014/main" id="{C34ED546-2D86-41E3-A1B8-9343532E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Cost: $?</a:t>
            </a:r>
          </a:p>
        </p:txBody>
      </p:sp>
      <p:sp>
        <p:nvSpPr>
          <p:cNvPr id="9" name="CAD">
            <a:extLst xmlns:a="http://schemas.openxmlformats.org/drawingml/2006/main">
              <a:ext uri="{FF2B5EF4-FFF2-40B4-BE49-F238E27FC236}">
                <a16:creationId xmlns:a16="http://schemas.microsoft.com/office/drawing/2014/main" id="{23D0536F-BA5F-440C-8221-AC9769DB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19300"/>
            <a:ext cx="371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CAD</a:t>
            </a:r>
          </a:p>
        </p:txBody>
      </p:sp>
      <p:sp>
        <p:nvSpPr>
          <p:cNvPr id="10" name="Computer Aided Design">
            <a:extLst xmlns:a="http://schemas.openxmlformats.org/drawingml/2006/main">
              <a:ext uri="{FF2B5EF4-FFF2-40B4-BE49-F238E27FC236}">
                <a16:creationId xmlns:a16="http://schemas.microsoft.com/office/drawing/2014/main" id="{35C76FAB-CE60-4A48-8C27-2A9A54AF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14650"/>
            <a:ext cx="3619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Computer Aided Design</a:t>
            </a:r>
          </a:p>
        </p:txBody>
      </p:sp>
      <p:sp>
        <p:nvSpPr>
          <p:cNvPr id="11" name="Yellow die">
            <a:extLst xmlns:a="http://schemas.openxmlformats.org/drawingml/2006/main">
              <a:ext uri="{FF2B5EF4-FFF2-40B4-BE49-F238E27FC236}">
                <a16:creationId xmlns:a16="http://schemas.microsoft.com/office/drawing/2014/main" id="{BBE76D50-CB36-4EBF-BD92-63D72049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8195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BC35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BC35E"/>
                </a:solidFill>
                <a:latin typeface="Arial"/>
                <a:ea typeface="Arial"/>
                <a:cs typeface="Arial"/>
              </a:rPr>
              <a:t>Yellow die</a:t>
            </a:r>
          </a:p>
        </p:txBody>
      </p:sp>
      <p:sp>
        <p:nvSpPr>
          <p:cNvPr id="12" name="Cost: $?">
            <a:extLst xmlns:a="http://schemas.openxmlformats.org/drawingml/2006/main">
              <a:ext uri="{FF2B5EF4-FFF2-40B4-BE49-F238E27FC236}">
                <a16:creationId xmlns:a16="http://schemas.microsoft.com/office/drawing/2014/main" id="{AAE246D2-460E-4BD1-A163-160802EC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2767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Cost: $?</a:t>
            </a:r>
          </a:p>
        </p:txBody>
      </p:sp>
    </p:spTree>
    <p:extLst>
      <p:ext uri="{BB962C8B-B14F-4D97-AF65-F5344CB8AC3E}">
        <p14:creationId xmlns:p14="http://schemas.microsoft.com/office/powerpoint/2010/main" val="1027498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28bc3d3c94cae"/>
          <a:stretch xmlns:a="http://schemas.openxmlformats.org/drawingml/2006/main"/>
        </p:blipFill>
        <p:spPr>
          <a:xfrm xmlns:a="http://schemas.openxmlformats.org/drawingml/2006/main">
            <a:off x="7429500" y="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2" name="Design tool outcomes">
            <a:extLst xmlns:a="http://schemas.openxmlformats.org/drawingml/2006/main">
              <a:ext uri="{FF2B5EF4-FFF2-40B4-BE49-F238E27FC236}">
                <a16:creationId xmlns:a16="http://schemas.microsoft.com/office/drawing/2014/main" id="{98CAEE22-27EE-4A94-A03C-7C69E0D3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tool outcomes</a:t>
            </a:r>
          </a:p>
        </p:txBody>
      </p:sp>
      <p:sp>
        <p:nvSpPr>
          <p:cNvPr id="3" name="Each outcome combines quality gained and time used">
            <a:extLst xmlns:a="http://schemas.openxmlformats.org/drawingml/2006/main">
              <a:ext uri="{FF2B5EF4-FFF2-40B4-BE49-F238E27FC236}">
                <a16:creationId xmlns:a16="http://schemas.microsoft.com/office/drawing/2014/main" id="{AE05BA3C-953B-432D-B08C-C71AA5FE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771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Each outcome combines quality gained and time used. Values are per roll.</a:t>
            </a:r>
          </a:p>
        </p:txBody>
      </p:sp>
      <p:sp>
        <p:nvSpPr>
          <p:cNvPr id="4" name="11">
            <a:extLst xmlns:a="http://schemas.openxmlformats.org/drawingml/2006/main">
              <a:ext uri="{FF2B5EF4-FFF2-40B4-BE49-F238E27FC236}">
                <a16:creationId xmlns:a16="http://schemas.microsoft.com/office/drawing/2014/main" id="{E049C176-B45F-4C7B-8CF6-F15DB064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8001000" cy="2038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1285875"/>
                <a:gridCol w="2667000"/>
                <a:gridCol w="2762250"/>
              </a:tblGrid>
              <a:tr h="466725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Quality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Time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A9CF84"/>
                          </a:solidFill>
                          <a:latin typeface="Arial"/>
                          <a:ea typeface="Arial"/>
                          <a:cs typeface="Arial"/>
                        </a:rPr>
                        <a:t>BIM / Green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EBC35E"/>
                          </a:solidFill>
                          <a:latin typeface="Arial"/>
                          <a:ea typeface="Arial"/>
                          <a:cs typeface="Arial"/>
                        </a:rPr>
                        <a:t>CAD / Yellow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A9CF84"/>
                          </a:solidFill>
                          <a:latin typeface="Arial"/>
                          <a:ea typeface="Arial"/>
                          <a:cs typeface="Arial"/>
                        </a:rPr>
                        <a:t>4/6 (66%)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EBC35E"/>
                          </a:solidFill>
                          <a:latin typeface="Arial"/>
                          <a:ea typeface="Arial"/>
                          <a:cs typeface="Arial"/>
                        </a:rPr>
                        <a:t>2/6 (33%)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A9CF84"/>
                          </a:solidFill>
                          <a:latin typeface="Arial"/>
                          <a:ea typeface="Arial"/>
                          <a:cs typeface="Arial"/>
                        </a:rPr>
                        <a:t>1/6 (17%)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EBC35E"/>
                          </a:solidFill>
                          <a:latin typeface="Arial"/>
                          <a:ea typeface="Arial"/>
                          <a:cs typeface="Arial"/>
                        </a:rPr>
                        <a:t>2/6 (33%)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A9CF84"/>
                          </a:solidFill>
                          <a:latin typeface="Arial"/>
                          <a:ea typeface="Arial"/>
                          <a:cs typeface="Arial"/>
                        </a:rPr>
                        <a:t>1/6 (17%)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EBC35E"/>
                          </a:solidFill>
                          <a:latin typeface="Arial"/>
                          <a:ea typeface="Arial"/>
                          <a:cs typeface="Arial"/>
                        </a:rPr>
                        <a:t>2/6 (33%)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</a:tr>
            </a:tbl>
          </a:graphicData>
        </a:graphic>
      </p:graphicFrame>
      <p:sp>
        <p:nvSpPr>
          <p:cNvPr id="6" name="BIM has a ⅔ chance of 3 quality units in 1 time un">
            <a:extLst xmlns:a="http://schemas.openxmlformats.org/drawingml/2006/main">
              <a:ext uri="{FF2B5EF4-FFF2-40B4-BE49-F238E27FC236}">
                <a16:creationId xmlns:a16="http://schemas.microsoft.com/office/drawing/2014/main" id="{DB7B4649-93FA-4E88-AD73-65E849BA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5767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BIM has a ⅔ chance of 3 quality units in 1 time unit.</a:t>
            </a:r>
          </a:p>
        </p:txBody>
      </p:sp>
    </p:spTree>
    <p:extLst>
      <p:ext uri="{BB962C8B-B14F-4D97-AF65-F5344CB8AC3E}">
        <p14:creationId xmlns:p14="http://schemas.microsoft.com/office/powerpoint/2010/main" val="1209612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5082a342df4a8a"/>
          <a:stretch xmlns:a="http://schemas.openxmlformats.org/drawingml/2006/main"/>
        </p:blipFill>
        <p:spPr>
          <a:xfrm xmlns:a="http://schemas.openxmlformats.org/drawingml/2006/main">
            <a:off x="7429500" y="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2" name="4. Design quality check">
            <a:extLst xmlns:a="http://schemas.openxmlformats.org/drawingml/2006/main">
              <a:ext uri="{FF2B5EF4-FFF2-40B4-BE49-F238E27FC236}">
                <a16:creationId xmlns:a16="http://schemas.microsoft.com/office/drawing/2014/main" id="{86103719-2CC6-47F6-81C4-C08C6022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 Design quality check</a:t>
            </a:r>
          </a:p>
        </p:txBody>
      </p:sp>
      <p:sp>
        <p:nvSpPr>
          <p:cNvPr id="3" name="Does the design outcome meet the client’s expectat">
            <a:extLst xmlns:a="http://schemas.openxmlformats.org/drawingml/2006/main">
              <a:ext uri="{FF2B5EF4-FFF2-40B4-BE49-F238E27FC236}">
                <a16:creationId xmlns:a16="http://schemas.microsoft.com/office/drawing/2014/main" id="{C9F9A781-E2AF-4E26-8D75-039734FF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771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Does the design outcome meet the client’s expectations?</a:t>
            </a:r>
          </a:p>
        </p:txBody>
      </p:sp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8E25F114-CC20-43C4-909E-44E61C7E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Hire architects">
            <a:extLst xmlns:a="http://schemas.openxmlformats.org/drawingml/2006/main">
              <a:ext uri="{FF2B5EF4-FFF2-40B4-BE49-F238E27FC236}">
                <a16:creationId xmlns:a16="http://schemas.microsoft.com/office/drawing/2014/main" id="{20A3B2DD-1E18-4D92-ABCB-FAADFE2C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90725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Hire architects</a:t>
            </a:r>
          </a:p>
        </p:txBody>
      </p:sp>
      <p:sp>
        <p:nvSpPr>
          <p:cNvPr id="6" name="Choose tools">
            <a:extLst xmlns:a="http://schemas.openxmlformats.org/drawingml/2006/main">
              <a:ext uri="{FF2B5EF4-FFF2-40B4-BE49-F238E27FC236}">
                <a16:creationId xmlns:a16="http://schemas.microsoft.com/office/drawing/2014/main" id="{55FE4452-7868-4CDD-8A4D-85E14E85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90725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 tools</a:t>
            </a:r>
          </a:p>
        </p:txBody>
      </p:sp>
      <p:sp>
        <p:nvSpPr>
          <p:cNvPr id="7" name="Deliver design">
            <a:extLst xmlns:a="http://schemas.openxmlformats.org/drawingml/2006/main">
              <a:ext uri="{FF2B5EF4-FFF2-40B4-BE49-F238E27FC236}">
                <a16:creationId xmlns:a16="http://schemas.microsoft.com/office/drawing/2014/main" id="{D1392BDF-BD3B-4342-9BA2-708903FE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90725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Deliver design</a:t>
            </a:r>
          </a:p>
        </p:txBody>
      </p: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62250" y="22955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tailEnd type="arrow" w="sm" len="sm"/>
          </a:ln>
        </p:spPr>
      </p:cxnSp>
      <p:cxnSp>
        <p:nvCxnSpPr>
          <p:cNvPr id="2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524500" y="22955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tailEnd type="arrow" w="sm" len="sm"/>
          </a:ln>
        </p:spPr>
      </p:cxnSp>
      <p:sp>
        <p:nvSpPr>
          <p:cNvPr id="10" name="Quality check">
            <a:extLst xmlns:a="http://schemas.openxmlformats.org/drawingml/2006/main">
              <a:ext uri="{FF2B5EF4-FFF2-40B4-BE49-F238E27FC236}">
                <a16:creationId xmlns:a16="http://schemas.microsoft.com/office/drawing/2014/main" id="{C3E60749-0B30-4EFE-B903-C301C0FC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23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Quality check</a:t>
            </a:r>
          </a:p>
        </p:txBody>
      </p:sp>
      <p:sp>
        <p:nvSpPr>
          <p:cNvPr id="11" name="YES">
            <a:extLst xmlns:a="http://schemas.openxmlformats.org/drawingml/2006/main">
              <a:ext uri="{FF2B5EF4-FFF2-40B4-BE49-F238E27FC236}">
                <a16:creationId xmlns:a16="http://schemas.microsoft.com/office/drawing/2014/main" id="{985832BD-4429-4A80-B803-0D722171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9092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9CF8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9CF84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2" name="Proceed to contractor bidding">
            <a:extLst xmlns:a="http://schemas.openxmlformats.org/drawingml/2006/main">
              <a:ext uri="{FF2B5EF4-FFF2-40B4-BE49-F238E27FC236}">
                <a16:creationId xmlns:a16="http://schemas.microsoft.com/office/drawing/2014/main" id="{7511A11A-891C-4066-98BF-B088157C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590925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Proceed to contractor bidding</a:t>
            </a:r>
          </a:p>
        </p:txBody>
      </p:sp>
      <p:sp>
        <p:nvSpPr>
          <p:cNvPr id="13" name="NO">
            <a:extLst xmlns:a="http://schemas.openxmlformats.org/drawingml/2006/main">
              <a:ext uri="{FF2B5EF4-FFF2-40B4-BE49-F238E27FC236}">
                <a16:creationId xmlns:a16="http://schemas.microsoft.com/office/drawing/2014/main" id="{457CF5D7-4BC3-4841-98EB-17D2CC2B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338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E8D8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E8D83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4" name="Hire architects again and improve the design.">
            <a:extLst xmlns:a="http://schemas.openxmlformats.org/drawingml/2006/main">
              <a:ext uri="{FF2B5EF4-FFF2-40B4-BE49-F238E27FC236}">
                <a16:creationId xmlns:a16="http://schemas.microsoft.com/office/drawing/2014/main" id="{5D092DC0-191A-413C-8E34-055D02B7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86225"/>
            <a:ext cx="4048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Hire architects again and improve the design.</a:t>
            </a:r>
          </a:p>
        </p:txBody>
      </p:sp>
    </p:spTree>
    <p:extLst>
      <p:ext uri="{BB962C8B-B14F-4D97-AF65-F5344CB8AC3E}">
        <p14:creationId xmlns:p14="http://schemas.microsoft.com/office/powerpoint/2010/main" val="7070882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b9403e5e04edd"/>
          <a:stretch xmlns:a="http://schemas.openxmlformats.org/drawingml/2006/main"/>
        </p:blipFill>
        <p:spPr>
          <a:xfrm xmlns:a="http://schemas.openxmlformats.org/drawingml/2006/main">
            <a:off x="7429500" y="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2" name="5. Contractor bidding">
            <a:extLst xmlns:a="http://schemas.openxmlformats.org/drawingml/2006/main">
              <a:ext uri="{FF2B5EF4-FFF2-40B4-BE49-F238E27FC236}">
                <a16:creationId xmlns:a16="http://schemas.microsoft.com/office/drawing/2014/main" id="{7181616E-C2C3-4EB4-B802-F21D8432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5. Contractor bidding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8A7AD92F-2152-40F3-B525-89C3CF6D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Client">
            <a:extLst xmlns:a="http://schemas.openxmlformats.org/drawingml/2006/main">
              <a:ext uri="{FF2B5EF4-FFF2-40B4-BE49-F238E27FC236}">
                <a16:creationId xmlns:a16="http://schemas.microsoft.com/office/drawing/2014/main" id="{DC66E665-1DF9-497D-BA73-757BB6CC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sp>
        <p:nvSpPr>
          <p:cNvPr id="5" name="Contractor">
            <a:extLst xmlns:a="http://schemas.openxmlformats.org/drawingml/2006/main">
              <a:ext uri="{FF2B5EF4-FFF2-40B4-BE49-F238E27FC236}">
                <a16:creationId xmlns:a16="http://schemas.microsoft.com/office/drawing/2014/main" id="{C3301218-5414-45A9-A742-AA9FE9F7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Contractor</a:t>
            </a:r>
          </a:p>
        </p:txBody>
      </p:sp>
      <p:sp>
        <p:nvSpPr>
          <p:cNvPr id="6" name="Agreement">
            <a:extLst xmlns:a="http://schemas.openxmlformats.org/drawingml/2006/main">
              <a:ext uri="{FF2B5EF4-FFF2-40B4-BE49-F238E27FC236}">
                <a16:creationId xmlns:a16="http://schemas.microsoft.com/office/drawing/2014/main" id="{ABEDD85E-F086-4DCF-B435-1DE800BA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Agreement</a:t>
            </a:r>
          </a:p>
        </p:txBody>
      </p:sp>
      <p:cxnSp>
        <p:nvCxnSpPr>
          <p:cNvPr id="1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62250" y="24384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tailEnd type="arrow" w="sm" len="sm"/>
          </a:ln>
        </p:spPr>
      </p:cxnSp>
      <p:cxnSp>
        <p:nvCxnSpPr>
          <p:cNvPr id="1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524500" y="24384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tailEnd type="arrow" w="sm" len="sm"/>
          </a:ln>
        </p:spPr>
      </p:cxnSp>
      <p:sp>
        <p:nvSpPr>
          <p:cNvPr id="9" name="Shares the project">
            <a:extLst xmlns:a="http://schemas.openxmlformats.org/drawingml/2006/main">
              <a:ext uri="{FF2B5EF4-FFF2-40B4-BE49-F238E27FC236}">
                <a16:creationId xmlns:a16="http://schemas.microsoft.com/office/drawing/2014/main" id="{71F21487-5415-4FA8-9E41-0A91A134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220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Shares the project</a:t>
            </a:r>
          </a:p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information</a:t>
            </a:r>
          </a:p>
        </p:txBody>
      </p:sp>
      <p:sp>
        <p:nvSpPr>
          <p:cNvPr id="10" name="Proposes outcomes">
            <a:extLst xmlns:a="http://schemas.openxmlformats.org/drawingml/2006/main">
              <a:ext uri="{FF2B5EF4-FFF2-40B4-BE49-F238E27FC236}">
                <a16:creationId xmlns:a16="http://schemas.microsoft.com/office/drawing/2014/main" id="{33BCAF9A-BF3D-4F1E-944A-5488BDD8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9900"/>
            <a:ext cx="220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Proposes outcomes</a:t>
            </a:r>
          </a:p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and a service fee</a:t>
            </a:r>
          </a:p>
        </p:txBody>
      </p:sp>
      <p:sp>
        <p:nvSpPr>
          <p:cNvPr id="11" name="Both parties agree">
            <a:extLst xmlns:a="http://schemas.openxmlformats.org/drawingml/2006/main">
              <a:ext uri="{FF2B5EF4-FFF2-40B4-BE49-F238E27FC236}">
                <a16:creationId xmlns:a16="http://schemas.microsoft.com/office/drawing/2014/main" id="{19D6C2F3-8AEC-45C2-B8AF-F43035B3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9900"/>
            <a:ext cx="220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Both parties agree</a:t>
            </a:r>
          </a:p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on the project terms</a:t>
            </a:r>
          </a:p>
        </p:txBody>
      </p:sp>
    </p:spTree>
    <p:extLst>
      <p:ext uri="{BB962C8B-B14F-4D97-AF65-F5344CB8AC3E}">
        <p14:creationId xmlns:p14="http://schemas.microsoft.com/office/powerpoint/2010/main" val="15513394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0c0bcb7a6a4400"/>
          <a:stretch xmlns:a="http://schemas.openxmlformats.org/drawingml/2006/main"/>
        </p:blipFill>
        <p:spPr>
          <a:xfrm xmlns:a="http://schemas.openxmlformats.org/drawingml/2006/main">
            <a:off x="7429500" y="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2" name="6. Project construction">
            <a:extLst xmlns:a="http://schemas.openxmlformats.org/drawingml/2006/main">
              <a:ext uri="{FF2B5EF4-FFF2-40B4-BE49-F238E27FC236}">
                <a16:creationId xmlns:a16="http://schemas.microsoft.com/office/drawing/2014/main" id="{8F885325-07BF-40C5-B4A2-2E3D432E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6. Project construction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168079D4-AEA0-497C-A4FE-274F5864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Choose engineers">
            <a:extLst xmlns:a="http://schemas.openxmlformats.org/drawingml/2006/main">
              <a:ext uri="{FF2B5EF4-FFF2-40B4-BE49-F238E27FC236}">
                <a16:creationId xmlns:a16="http://schemas.microsoft.com/office/drawing/2014/main" id="{ADB9EECA-B294-4BA1-A508-6128826A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 engineers</a:t>
            </a:r>
          </a:p>
        </p:txBody>
      </p:sp>
      <p:sp>
        <p:nvSpPr>
          <p:cNvPr id="5" name="Choose tools">
            <a:extLst xmlns:a="http://schemas.openxmlformats.org/drawingml/2006/main">
              <a:ext uri="{FF2B5EF4-FFF2-40B4-BE49-F238E27FC236}">
                <a16:creationId xmlns:a16="http://schemas.microsoft.com/office/drawing/2014/main" id="{A168A6FB-42B9-436F-810D-548E23BC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241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 tools</a:t>
            </a:r>
          </a:p>
        </p:txBody>
      </p:sp>
      <p:sp>
        <p:nvSpPr>
          <p:cNvPr id="6" name="Build">
            <a:extLst xmlns:a="http://schemas.openxmlformats.org/drawingml/2006/main">
              <a:ext uri="{FF2B5EF4-FFF2-40B4-BE49-F238E27FC236}">
                <a16:creationId xmlns:a16="http://schemas.microsoft.com/office/drawing/2014/main" id="{68A09DEB-A35A-4FD2-A457-FFC791CA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cxnSp>
        <p:nvCxnSpPr>
          <p:cNvPr id="1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62250" y="26289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tailEnd type="arrow" w="sm" len="sm"/>
          </a:ln>
        </p:spPr>
      </p:cxnSp>
      <p:cxnSp>
        <p:nvCxnSpPr>
          <p:cNvPr id="1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524500" y="26289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tailEnd type="arrow" w="sm" len="sm"/>
          </a:ln>
        </p:spPr>
      </p:cxnSp>
      <p:sp>
        <p:nvSpPr>
          <p:cNvPr id="9" name="Pay the engineer cost">
            <a:extLst xmlns:a="http://schemas.openxmlformats.org/drawingml/2006/main">
              <a:ext uri="{FF2B5EF4-FFF2-40B4-BE49-F238E27FC236}">
                <a16:creationId xmlns:a16="http://schemas.microsoft.com/office/drawing/2014/main" id="{DFD269DB-010F-4D0E-BE68-E4E065BB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220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Pay the engineer cost</a:t>
            </a:r>
          </a:p>
        </p:txBody>
      </p:sp>
      <p:sp>
        <p:nvSpPr>
          <p:cNvPr id="10" name="Pay the tool cost">
            <a:extLst xmlns:a="http://schemas.openxmlformats.org/drawingml/2006/main">
              <a:ext uri="{FF2B5EF4-FFF2-40B4-BE49-F238E27FC236}">
                <a16:creationId xmlns:a16="http://schemas.microsoft.com/office/drawing/2014/main" id="{8BCD2832-3AD5-426E-895A-61912629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00400"/>
            <a:ext cx="220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Pay the tool cost</a:t>
            </a:r>
          </a:p>
        </p:txBody>
      </p:sp>
      <p:sp>
        <p:nvSpPr>
          <p:cNvPr id="11" name="Record quality and time">
            <a:extLst xmlns:a="http://schemas.openxmlformats.org/drawingml/2006/main">
              <a:ext uri="{FF2B5EF4-FFF2-40B4-BE49-F238E27FC236}">
                <a16:creationId xmlns:a16="http://schemas.microsoft.com/office/drawing/2014/main" id="{B6E34925-D70C-425F-9A9B-D6F87661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00400"/>
            <a:ext cx="220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Record quality and time</a:t>
            </a:r>
          </a:p>
        </p:txBody>
      </p:sp>
    </p:spTree>
    <p:extLst>
      <p:ext uri="{BB962C8B-B14F-4D97-AF65-F5344CB8AC3E}">
        <p14:creationId xmlns:p14="http://schemas.microsoft.com/office/powerpoint/2010/main" val="10210282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e3ffec6bba49e8"/>
          <a:stretch xmlns:a="http://schemas.openxmlformats.org/drawingml/2006/main"/>
        </p:blipFill>
        <p:spPr>
          <a:xfrm xmlns:a="http://schemas.openxmlformats.org/drawingml/2006/main">
            <a:off x="7429500" y="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2" name="Engineer choices">
            <a:extLst xmlns:a="http://schemas.openxmlformats.org/drawingml/2006/main">
              <a:ext uri="{FF2B5EF4-FFF2-40B4-BE49-F238E27FC236}">
                <a16:creationId xmlns:a16="http://schemas.microsoft.com/office/drawing/2014/main" id="{4BC54C9C-F252-445F-A467-6CCFD0A4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Engineer choices</a:t>
            </a:r>
          </a:p>
        </p:txBody>
      </p:sp>
      <p:sp>
        <p:nvSpPr>
          <p:cNvPr id="3" name="The contractor chooses a type. Costs and outcome p">
            <a:extLst xmlns:a="http://schemas.openxmlformats.org/drawingml/2006/main">
              <a:ext uri="{FF2B5EF4-FFF2-40B4-BE49-F238E27FC236}">
                <a16:creationId xmlns:a16="http://schemas.microsoft.com/office/drawing/2014/main" id="{89E6FB94-3526-4228-82FF-0D3713D0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771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The contractor chooses a type. Costs and outcome probabilities differ.</a:t>
            </a:r>
          </a:p>
        </p:txBody>
      </p:sp>
      <p:sp>
        <p:nvSpPr>
          <p:cNvPr id="4" name="15">
            <a:extLst xmlns:a="http://schemas.openxmlformats.org/drawingml/2006/main">
              <a:ext uri="{FF2B5EF4-FFF2-40B4-BE49-F238E27FC236}">
                <a16:creationId xmlns:a16="http://schemas.microsoft.com/office/drawing/2014/main" id="{7B7BFAD9-592A-4FE9-BEE4-93C5A78F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Super">
            <a:extLst xmlns:a="http://schemas.openxmlformats.org/drawingml/2006/main">
              <a:ext uri="{FF2B5EF4-FFF2-40B4-BE49-F238E27FC236}">
                <a16:creationId xmlns:a16="http://schemas.microsoft.com/office/drawing/2014/main" id="{A2B82AD8-79F2-4881-B803-E94F61D6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Super</a:t>
            </a:r>
          </a:p>
        </p:txBody>
      </p:sp>
      <p:sp>
        <p:nvSpPr>
          <p:cNvPr id="6" name="Engineer">
            <a:extLst xmlns:a="http://schemas.openxmlformats.org/drawingml/2006/main">
              <a:ext uri="{FF2B5EF4-FFF2-40B4-BE49-F238E27FC236}">
                <a16:creationId xmlns:a16="http://schemas.microsoft.com/office/drawing/2014/main" id="{D7506600-C7DB-43F2-BFB4-EF1515B9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574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Engineer</a:t>
            </a:r>
          </a:p>
        </p:txBody>
      </p:sp>
      <p:sp>
        <p:nvSpPr>
          <p:cNvPr id="7" name="Green die">
            <a:extLst xmlns:a="http://schemas.openxmlformats.org/drawingml/2006/main">
              <a:ext uri="{FF2B5EF4-FFF2-40B4-BE49-F238E27FC236}">
                <a16:creationId xmlns:a16="http://schemas.microsoft.com/office/drawing/2014/main" id="{32B7828C-CF81-4399-9FCC-810D4987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242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9CF8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9CF84"/>
                </a:solidFill>
                <a:latin typeface="Arial"/>
                <a:ea typeface="Arial"/>
                <a:cs typeface="Arial"/>
              </a:rPr>
              <a:t>Green die</a:t>
            </a:r>
          </a:p>
        </p:txBody>
      </p:sp>
      <p:sp>
        <p:nvSpPr>
          <p:cNvPr id="8" name="Cost: $?">
            <a:extLst xmlns:a="http://schemas.openxmlformats.org/drawingml/2006/main">
              <a:ext uri="{FF2B5EF4-FFF2-40B4-BE49-F238E27FC236}">
                <a16:creationId xmlns:a16="http://schemas.microsoft.com/office/drawing/2014/main" id="{4C134EA8-1010-42BF-AA2B-E4A67927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Cost: $?</a:t>
            </a:r>
          </a:p>
        </p:txBody>
      </p:sp>
      <p:sp>
        <p:nvSpPr>
          <p:cNvPr id="9" name="Senior">
            <a:extLst xmlns:a="http://schemas.openxmlformats.org/drawingml/2006/main">
              <a:ext uri="{FF2B5EF4-FFF2-40B4-BE49-F238E27FC236}">
                <a16:creationId xmlns:a16="http://schemas.microsoft.com/office/drawing/2014/main" id="{74B205FC-2A15-402F-8BAB-51D50CB8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Senior</a:t>
            </a:r>
          </a:p>
        </p:txBody>
      </p:sp>
      <p:sp>
        <p:nvSpPr>
          <p:cNvPr id="10" name="Engineer">
            <a:extLst xmlns:a="http://schemas.openxmlformats.org/drawingml/2006/main">
              <a:ext uri="{FF2B5EF4-FFF2-40B4-BE49-F238E27FC236}">
                <a16:creationId xmlns:a16="http://schemas.microsoft.com/office/drawing/2014/main" id="{1E545598-CD90-4B71-A2B4-D4884D31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574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Engineer</a:t>
            </a:r>
          </a:p>
        </p:txBody>
      </p:sp>
      <p:sp>
        <p:nvSpPr>
          <p:cNvPr id="11" name="Yellow die">
            <a:extLst xmlns:a="http://schemas.openxmlformats.org/drawingml/2006/main">
              <a:ext uri="{FF2B5EF4-FFF2-40B4-BE49-F238E27FC236}">
                <a16:creationId xmlns:a16="http://schemas.microsoft.com/office/drawing/2014/main" id="{7D76B700-4E04-4963-A885-00989DD2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242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BC3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BC35E"/>
                </a:solidFill>
                <a:latin typeface="Arial"/>
                <a:ea typeface="Arial"/>
                <a:cs typeface="Arial"/>
              </a:rPr>
              <a:t>Yellow die</a:t>
            </a:r>
          </a:p>
        </p:txBody>
      </p:sp>
      <p:sp>
        <p:nvSpPr>
          <p:cNvPr id="12" name="Cost: $?">
            <a:extLst xmlns:a="http://schemas.openxmlformats.org/drawingml/2006/main">
              <a:ext uri="{FF2B5EF4-FFF2-40B4-BE49-F238E27FC236}">
                <a16:creationId xmlns:a16="http://schemas.microsoft.com/office/drawing/2014/main" id="{D38B75D6-DF38-44D1-AADC-4FDC914D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05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Cost: $?</a:t>
            </a:r>
          </a:p>
        </p:txBody>
      </p:sp>
      <p:sp>
        <p:nvSpPr>
          <p:cNvPr id="13" name="Junior">
            <a:extLst xmlns:a="http://schemas.openxmlformats.org/drawingml/2006/main">
              <a:ext uri="{FF2B5EF4-FFF2-40B4-BE49-F238E27FC236}">
                <a16:creationId xmlns:a16="http://schemas.microsoft.com/office/drawing/2014/main" id="{A6E00981-F1AD-43B5-9E9A-8B909273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Junior</a:t>
            </a:r>
          </a:p>
        </p:txBody>
      </p:sp>
      <p:sp>
        <p:nvSpPr>
          <p:cNvPr id="14" name="Engineer">
            <a:extLst xmlns:a="http://schemas.openxmlformats.org/drawingml/2006/main">
              <a:ext uri="{FF2B5EF4-FFF2-40B4-BE49-F238E27FC236}">
                <a16:creationId xmlns:a16="http://schemas.microsoft.com/office/drawing/2014/main" id="{7B9178BE-825B-4030-AFC3-BC543092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574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Engineer</a:t>
            </a:r>
          </a:p>
        </p:txBody>
      </p:sp>
      <p:sp>
        <p:nvSpPr>
          <p:cNvPr id="15" name="Red die">
            <a:extLst xmlns:a="http://schemas.openxmlformats.org/drawingml/2006/main">
              <a:ext uri="{FF2B5EF4-FFF2-40B4-BE49-F238E27FC236}">
                <a16:creationId xmlns:a16="http://schemas.microsoft.com/office/drawing/2014/main" id="{B7C14831-EA28-4553-BA44-2B6FD9F2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242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E8D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E8D83"/>
                </a:solidFill>
                <a:latin typeface="Arial"/>
                <a:ea typeface="Arial"/>
                <a:cs typeface="Arial"/>
              </a:rPr>
              <a:t>Red die</a:t>
            </a:r>
          </a:p>
        </p:txBody>
      </p:sp>
      <p:sp>
        <p:nvSpPr>
          <p:cNvPr id="16" name="Cost: $?">
            <a:extLst xmlns:a="http://schemas.openxmlformats.org/drawingml/2006/main">
              <a:ext uri="{FF2B5EF4-FFF2-40B4-BE49-F238E27FC236}">
                <a16:creationId xmlns:a16="http://schemas.microsoft.com/office/drawing/2014/main" id="{AF077439-B260-4069-96B3-5F37F4E9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Cost: $?</a:t>
            </a:r>
          </a:p>
        </p:txBody>
      </p:sp>
    </p:spTree>
    <p:extLst>
      <p:ext uri="{BB962C8B-B14F-4D97-AF65-F5344CB8AC3E}">
        <p14:creationId xmlns:p14="http://schemas.microsoft.com/office/powerpoint/2010/main" val="12008540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d8345d67e4278"/>
          <a:stretch xmlns:a="http://schemas.openxmlformats.org/drawingml/2006/main"/>
        </p:blipFill>
        <p:spPr>
          <a:xfrm xmlns:a="http://schemas.openxmlformats.org/drawingml/2006/main">
            <a:off x="7429500" y="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2" name="Engineer outcomes">
            <a:extLst xmlns:a="http://schemas.openxmlformats.org/drawingml/2006/main">
              <a:ext uri="{FF2B5EF4-FFF2-40B4-BE49-F238E27FC236}">
                <a16:creationId xmlns:a16="http://schemas.microsoft.com/office/drawing/2014/main" id="{1156CCF4-947F-40B9-BCCD-67531068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Engineer outcomes</a:t>
            </a:r>
          </a:p>
        </p:txBody>
      </p:sp>
      <p:sp>
        <p:nvSpPr>
          <p:cNvPr id="3" name="Each outcome combines quality gained and time used">
            <a:extLst xmlns:a="http://schemas.openxmlformats.org/drawingml/2006/main">
              <a:ext uri="{FF2B5EF4-FFF2-40B4-BE49-F238E27FC236}">
                <a16:creationId xmlns:a16="http://schemas.microsoft.com/office/drawing/2014/main" id="{72D5EC3E-EE2F-4349-8D13-654C5FC4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771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Each outcome combines quality gained and time used. Values are per roll.</a:t>
            </a:r>
          </a:p>
        </p:txBody>
      </p:sp>
      <p:sp>
        <p:nvSpPr>
          <p:cNvPr id="4" name="16">
            <a:extLst xmlns:a="http://schemas.openxmlformats.org/drawingml/2006/main">
              <a:ext uri="{FF2B5EF4-FFF2-40B4-BE49-F238E27FC236}">
                <a16:creationId xmlns:a16="http://schemas.microsoft.com/office/drawing/2014/main" id="{0AEE2AEB-26FD-45C2-BC1E-819C4E7B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8001000" cy="2038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952500"/>
                <a:gridCol w="2000250"/>
                <a:gridCol w="2047875"/>
                <a:gridCol w="2047875"/>
              </a:tblGrid>
              <a:tr h="466725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Quality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Time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A9CF84"/>
                          </a:solidFill>
                          <a:latin typeface="Arial"/>
                          <a:ea typeface="Arial"/>
                          <a:cs typeface="Arial"/>
                        </a:rPr>
                        <a:t>Super / Green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EBC35E"/>
                          </a:solidFill>
                          <a:latin typeface="Arial"/>
                          <a:ea typeface="Arial"/>
                          <a:cs typeface="Arial"/>
                        </a:rPr>
                        <a:t>Senior / Yellow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DE8D83"/>
                          </a:solidFill>
                          <a:latin typeface="Arial"/>
                          <a:ea typeface="Arial"/>
                          <a:cs typeface="Arial"/>
                        </a:rPr>
                        <a:t>Junior / Red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A9CF84"/>
                          </a:solidFill>
                          <a:latin typeface="Arial"/>
                          <a:ea typeface="Arial"/>
                          <a:cs typeface="Arial"/>
                        </a:rPr>
                        <a:t>4/6 (66%)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EBC35E"/>
                          </a:solidFill>
                          <a:latin typeface="Arial"/>
                          <a:ea typeface="Arial"/>
                          <a:cs typeface="Arial"/>
                        </a:rPr>
                        <a:t>2/6 (33%)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DE8D83"/>
                          </a:solidFill>
                          <a:latin typeface="Arial"/>
                          <a:ea typeface="Arial"/>
                          <a:cs typeface="Arial"/>
                        </a:rPr>
                        <a:t>1/6 (17%)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A9CF84"/>
                          </a:solidFill>
                          <a:latin typeface="Arial"/>
                          <a:ea typeface="Arial"/>
                          <a:cs typeface="Arial"/>
                        </a:rPr>
                        <a:t>1/6 (17%)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EBC35E"/>
                          </a:solidFill>
                          <a:latin typeface="Arial"/>
                          <a:ea typeface="Arial"/>
                          <a:cs typeface="Arial"/>
                        </a:rPr>
                        <a:t>2/6 (33%)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DE8D83"/>
                          </a:solidFill>
                          <a:latin typeface="Arial"/>
                          <a:ea typeface="Arial"/>
                          <a:cs typeface="Arial"/>
                        </a:rPr>
                        <a:t>1/6 (17%)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A9CF84"/>
                          </a:solidFill>
                          <a:latin typeface="Arial"/>
                          <a:ea typeface="Arial"/>
                          <a:cs typeface="Arial"/>
                        </a:rPr>
                        <a:t>1/6 (17%)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EBC35E"/>
                          </a:solidFill>
                          <a:latin typeface="Arial"/>
                          <a:ea typeface="Arial"/>
                          <a:cs typeface="Arial"/>
                        </a:rPr>
                        <a:t>2/6 (33%)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DE8D83"/>
                          </a:solidFill>
                          <a:latin typeface="Arial"/>
                          <a:ea typeface="Arial"/>
                          <a:cs typeface="Arial"/>
                        </a:rPr>
                        <a:t>4/6 (66%)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</a:tr>
            </a:tbl>
          </a:graphicData>
        </a:graphic>
      </p:graphicFrame>
      <p:sp>
        <p:nvSpPr>
          <p:cNvPr id="6" name="A super engineer has a ⅔ chance of 15 quality unit">
            <a:extLst xmlns:a="http://schemas.openxmlformats.org/drawingml/2006/main">
              <a:ext uri="{FF2B5EF4-FFF2-40B4-BE49-F238E27FC236}">
                <a16:creationId xmlns:a16="http://schemas.microsoft.com/office/drawing/2014/main" id="{5655AEA1-6675-42BA-A714-F23FE5CA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5767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super engineer has a ⅔ chance of 15 quality units in 5 time units.</a:t>
            </a:r>
          </a:p>
        </p:txBody>
      </p:sp>
    </p:spTree>
    <p:extLst>
      <p:ext uri="{BB962C8B-B14F-4D97-AF65-F5344CB8AC3E}">
        <p14:creationId xmlns:p14="http://schemas.microsoft.com/office/powerpoint/2010/main" val="15099433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36bfa42f34b9f"/>
          <a:stretch xmlns:a="http://schemas.openxmlformats.org/drawingml/2006/main"/>
        </p:blipFill>
        <p:spPr>
          <a:xfrm xmlns:a="http://schemas.openxmlformats.org/drawingml/2006/main">
            <a:off x="7429500" y="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2" name="Tools for construction">
            <a:extLst xmlns:a="http://schemas.openxmlformats.org/drawingml/2006/main">
              <a:ext uri="{FF2B5EF4-FFF2-40B4-BE49-F238E27FC236}">
                <a16:creationId xmlns:a16="http://schemas.microsoft.com/office/drawing/2014/main" id="{337AF679-C48D-48BB-B590-FFBE358D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Tools for construction</a:t>
            </a:r>
          </a:p>
        </p:txBody>
      </p:sp>
      <p:sp>
        <p:nvSpPr>
          <p:cNvPr id="3" name="Choose a tool. Its cost and outcome probabilities ">
            <a:extLst xmlns:a="http://schemas.openxmlformats.org/drawingml/2006/main">
              <a:ext uri="{FF2B5EF4-FFF2-40B4-BE49-F238E27FC236}">
                <a16:creationId xmlns:a16="http://schemas.microsoft.com/office/drawing/2014/main" id="{8FBA73F6-450C-476D-8354-8092993A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771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Choose a tool. Its cost and outcome probabilities affect the project.</a:t>
            </a:r>
          </a:p>
        </p:txBody>
      </p:sp>
      <p:sp>
        <p:nvSpPr>
          <p:cNvPr id="4" name="17">
            <a:extLst xmlns:a="http://schemas.openxmlformats.org/drawingml/2006/main">
              <a:ext uri="{FF2B5EF4-FFF2-40B4-BE49-F238E27FC236}">
                <a16:creationId xmlns:a16="http://schemas.microsoft.com/office/drawing/2014/main" id="{2F04ECE6-59DE-4A37-BF52-CD6AB62D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BIM">
            <a:extLst xmlns:a="http://schemas.openxmlformats.org/drawingml/2006/main">
              <a:ext uri="{FF2B5EF4-FFF2-40B4-BE49-F238E27FC236}">
                <a16:creationId xmlns:a16="http://schemas.microsoft.com/office/drawing/2014/main" id="{ADBC0197-725A-42BE-AA21-38CBFC43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371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BIM</a:t>
            </a:r>
          </a:p>
        </p:txBody>
      </p:sp>
      <p:sp>
        <p:nvSpPr>
          <p:cNvPr id="6" name="Building Information">
            <a:extLst xmlns:a="http://schemas.openxmlformats.org/drawingml/2006/main">
              <a:ext uri="{FF2B5EF4-FFF2-40B4-BE49-F238E27FC236}">
                <a16:creationId xmlns:a16="http://schemas.microsoft.com/office/drawing/2014/main" id="{F1CF287C-2E7C-4A2B-B9B6-93BEF0F5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3619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Building Information</a:t>
            </a:r>
          </a:p>
          <a:p xmlns:a="http://schemas.openxmlformats.org/drawingml/2006/main">
            <a:pPr>
              <a:defRPr sz="180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Modelling</a:t>
            </a:r>
          </a:p>
        </p:txBody>
      </p:sp>
      <p:sp>
        <p:nvSpPr>
          <p:cNvPr id="7" name="Green die">
            <a:extLst xmlns:a="http://schemas.openxmlformats.org/drawingml/2006/main">
              <a:ext uri="{FF2B5EF4-FFF2-40B4-BE49-F238E27FC236}">
                <a16:creationId xmlns:a16="http://schemas.microsoft.com/office/drawing/2014/main" id="{04A1C2BF-DAD3-47C9-92EF-4D6028D7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95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A9CF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9CF84"/>
                </a:solidFill>
                <a:latin typeface="Arial"/>
                <a:ea typeface="Arial"/>
                <a:cs typeface="Arial"/>
              </a:rPr>
              <a:t>Green die</a:t>
            </a:r>
          </a:p>
        </p:txBody>
      </p:sp>
      <p:sp>
        <p:nvSpPr>
          <p:cNvPr id="8" name="Cost: $?">
            <a:extLst xmlns:a="http://schemas.openxmlformats.org/drawingml/2006/main">
              <a:ext uri="{FF2B5EF4-FFF2-40B4-BE49-F238E27FC236}">
                <a16:creationId xmlns:a16="http://schemas.microsoft.com/office/drawing/2014/main" id="{1A636182-E17F-4633-AD99-F1A18B7E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Cost: $?</a:t>
            </a:r>
          </a:p>
        </p:txBody>
      </p:sp>
      <p:sp>
        <p:nvSpPr>
          <p:cNvPr id="9" name="CAD">
            <a:extLst xmlns:a="http://schemas.openxmlformats.org/drawingml/2006/main">
              <a:ext uri="{FF2B5EF4-FFF2-40B4-BE49-F238E27FC236}">
                <a16:creationId xmlns:a16="http://schemas.microsoft.com/office/drawing/2014/main" id="{DDF75C36-1292-4EF0-B4FC-52D127F9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19300"/>
            <a:ext cx="371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CAD</a:t>
            </a:r>
          </a:p>
        </p:txBody>
      </p:sp>
      <p:sp>
        <p:nvSpPr>
          <p:cNvPr id="10" name="Computer Aided Design">
            <a:extLst xmlns:a="http://schemas.openxmlformats.org/drawingml/2006/main">
              <a:ext uri="{FF2B5EF4-FFF2-40B4-BE49-F238E27FC236}">
                <a16:creationId xmlns:a16="http://schemas.microsoft.com/office/drawing/2014/main" id="{83103536-6B4C-40BB-83F1-85F9AD84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14650"/>
            <a:ext cx="3619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Computer Aided Design</a:t>
            </a:r>
          </a:p>
        </p:txBody>
      </p:sp>
      <p:sp>
        <p:nvSpPr>
          <p:cNvPr id="11" name="Yellow die">
            <a:extLst xmlns:a="http://schemas.openxmlformats.org/drawingml/2006/main">
              <a:ext uri="{FF2B5EF4-FFF2-40B4-BE49-F238E27FC236}">
                <a16:creationId xmlns:a16="http://schemas.microsoft.com/office/drawing/2014/main" id="{42F301F9-92D7-421D-8879-A0584A3C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8195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BC35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BC35E"/>
                </a:solidFill>
                <a:latin typeface="Arial"/>
                <a:ea typeface="Arial"/>
                <a:cs typeface="Arial"/>
              </a:rPr>
              <a:t>Yellow die</a:t>
            </a:r>
          </a:p>
        </p:txBody>
      </p:sp>
      <p:sp>
        <p:nvSpPr>
          <p:cNvPr id="12" name="Cost: $?">
            <a:extLst xmlns:a="http://schemas.openxmlformats.org/drawingml/2006/main">
              <a:ext uri="{FF2B5EF4-FFF2-40B4-BE49-F238E27FC236}">
                <a16:creationId xmlns:a16="http://schemas.microsoft.com/office/drawing/2014/main" id="{2FFD4B00-799D-4835-9C30-1BCB2AF0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2767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Cost: $?</a:t>
            </a:r>
          </a:p>
        </p:txBody>
      </p:sp>
    </p:spTree>
    <p:extLst>
      <p:ext uri="{BB962C8B-B14F-4D97-AF65-F5344CB8AC3E}">
        <p14:creationId xmlns:p14="http://schemas.microsoft.com/office/powerpoint/2010/main" val="2745056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830accc114ca5"/>
          <a:stretch xmlns:a="http://schemas.openxmlformats.org/drawingml/2006/main"/>
        </p:blipFill>
        <p:spPr>
          <a:xfrm xmlns:a="http://schemas.openxmlformats.org/drawingml/2006/main">
            <a:off x="7429500" y="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2" name="Construction tool outcomes">
            <a:extLst xmlns:a="http://schemas.openxmlformats.org/drawingml/2006/main">
              <a:ext uri="{FF2B5EF4-FFF2-40B4-BE49-F238E27FC236}">
                <a16:creationId xmlns:a16="http://schemas.microsoft.com/office/drawing/2014/main" id="{7FD6578A-D339-40D9-A195-3BDD8329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Construction tool outcomes</a:t>
            </a:r>
          </a:p>
        </p:txBody>
      </p:sp>
      <p:sp>
        <p:nvSpPr>
          <p:cNvPr id="3" name="Each outcome combines quality gained and time used">
            <a:extLst xmlns:a="http://schemas.openxmlformats.org/drawingml/2006/main">
              <a:ext uri="{FF2B5EF4-FFF2-40B4-BE49-F238E27FC236}">
                <a16:creationId xmlns:a16="http://schemas.microsoft.com/office/drawing/2014/main" id="{B9B439CE-0713-4F07-98BF-516C4A43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771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Each outcome combines quality gained and time used. Values are per roll.</a:t>
            </a:r>
          </a:p>
        </p:txBody>
      </p:sp>
      <p:sp>
        <p:nvSpPr>
          <p:cNvPr id="4" name="18">
            <a:extLst xmlns:a="http://schemas.openxmlformats.org/drawingml/2006/main">
              <a:ext uri="{FF2B5EF4-FFF2-40B4-BE49-F238E27FC236}">
                <a16:creationId xmlns:a16="http://schemas.microsoft.com/office/drawing/2014/main" id="{F45FB37D-BDEB-4FEF-9F05-219DA10C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8001000" cy="2038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1285875"/>
                <a:gridCol w="2667000"/>
                <a:gridCol w="2762250"/>
              </a:tblGrid>
              <a:tr h="466725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Quality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Time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A9CF84"/>
                          </a:solidFill>
                          <a:latin typeface="Arial"/>
                          <a:ea typeface="Arial"/>
                          <a:cs typeface="Arial"/>
                        </a:rPr>
                        <a:t>BIM / Green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EBC35E"/>
                          </a:solidFill>
                          <a:latin typeface="Arial"/>
                          <a:ea typeface="Arial"/>
                          <a:cs typeface="Arial"/>
                        </a:rPr>
                        <a:t>CAD / Yellow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A9CF84"/>
                          </a:solidFill>
                          <a:latin typeface="Arial"/>
                          <a:ea typeface="Arial"/>
                          <a:cs typeface="Arial"/>
                        </a:rPr>
                        <a:t>4/6 (66%)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EBC35E"/>
                          </a:solidFill>
                          <a:latin typeface="Arial"/>
                          <a:ea typeface="Arial"/>
                          <a:cs typeface="Arial"/>
                        </a:rPr>
                        <a:t>2/6 (33%)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A9CF84"/>
                          </a:solidFill>
                          <a:latin typeface="Arial"/>
                          <a:ea typeface="Arial"/>
                          <a:cs typeface="Arial"/>
                        </a:rPr>
                        <a:t>1/6 (17%)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EBC35E"/>
                          </a:solidFill>
                          <a:latin typeface="Arial"/>
                          <a:ea typeface="Arial"/>
                          <a:cs typeface="Arial"/>
                        </a:rPr>
                        <a:t>2/6 (33%)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A9CF84"/>
                          </a:solidFill>
                          <a:latin typeface="Arial"/>
                          <a:ea typeface="Arial"/>
                          <a:cs typeface="Arial"/>
                        </a:rPr>
                        <a:t>1/6 (17%)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EBC35E"/>
                          </a:solidFill>
                          <a:latin typeface="Arial"/>
                          <a:ea typeface="Arial"/>
                          <a:cs typeface="Arial"/>
                        </a:rPr>
                        <a:t>2/6 (33%)</a:t>
                      </a:r>
                    </a:p>
                  </a:txBody>
                  <a:tcPr marL="91440" marR="91440" marT="45720" marB="45720">
                    <a:solidFill>
                      <a:srgbClr val="080808"/>
                    </a:solidFill>
                  </a:tcPr>
                </a:tc>
              </a:tr>
            </a:tbl>
          </a:graphicData>
        </a:graphic>
      </p:graphicFrame>
      <p:sp>
        <p:nvSpPr>
          <p:cNvPr id="6" name="BIM has a ⅔ chance of 15 quality units in 5 time u">
            <a:extLst xmlns:a="http://schemas.openxmlformats.org/drawingml/2006/main">
              <a:ext uri="{FF2B5EF4-FFF2-40B4-BE49-F238E27FC236}">
                <a16:creationId xmlns:a16="http://schemas.microsoft.com/office/drawing/2014/main" id="{9E3CCF8F-C89E-47C5-BEDD-6EA93192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5767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BIM has a ⅔ chance of 15 quality units in 5 time units.</a:t>
            </a:r>
          </a:p>
        </p:txBody>
      </p:sp>
    </p:spTree>
    <p:extLst>
      <p:ext uri="{BB962C8B-B14F-4D97-AF65-F5344CB8AC3E}">
        <p14:creationId xmlns:p14="http://schemas.microsoft.com/office/powerpoint/2010/main" val="195917170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393bad4654c7f"/>
          <a:stretch xmlns:a="http://schemas.openxmlformats.org/drawingml/2006/main"/>
        </p:blipFill>
        <p:spPr>
          <a:xfrm xmlns:a="http://schemas.openxmlformats.org/drawingml/2006/main">
            <a:off x="7429500" y="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2" name="7. Construction quality check">
            <a:extLst xmlns:a="http://schemas.openxmlformats.org/drawingml/2006/main">
              <a:ext uri="{FF2B5EF4-FFF2-40B4-BE49-F238E27FC236}">
                <a16:creationId xmlns:a16="http://schemas.microsoft.com/office/drawing/2014/main" id="{4C84F706-EB40-458E-814C-E4C728EC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7. Construction quality check</a:t>
            </a:r>
          </a:p>
        </p:txBody>
      </p:sp>
      <p:sp>
        <p:nvSpPr>
          <p:cNvPr id="3" name="Does the construction outcome meet the client’s ex">
            <a:extLst xmlns:a="http://schemas.openxmlformats.org/drawingml/2006/main">
              <a:ext uri="{FF2B5EF4-FFF2-40B4-BE49-F238E27FC236}">
                <a16:creationId xmlns:a16="http://schemas.microsoft.com/office/drawing/2014/main" id="{2688A8FC-86D5-4913-BCC9-92A5252F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771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Does the construction outcome meet the client’s expectations?</a:t>
            </a:r>
          </a:p>
        </p:txBody>
      </p:sp>
      <p:sp>
        <p:nvSpPr>
          <p:cNvPr id="4" name="19">
            <a:extLst xmlns:a="http://schemas.openxmlformats.org/drawingml/2006/main">
              <a:ext uri="{FF2B5EF4-FFF2-40B4-BE49-F238E27FC236}">
                <a16:creationId xmlns:a16="http://schemas.microsoft.com/office/drawing/2014/main" id="{F00E7EDA-8A5F-4666-AF5B-DA82E3CA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Hire engineers">
            <a:extLst xmlns:a="http://schemas.openxmlformats.org/drawingml/2006/main">
              <a:ext uri="{FF2B5EF4-FFF2-40B4-BE49-F238E27FC236}">
                <a16:creationId xmlns:a16="http://schemas.microsoft.com/office/drawing/2014/main" id="{0D6E59F0-9E05-4C5B-AB80-1BF6B4EA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90725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Hire engineers</a:t>
            </a:r>
          </a:p>
        </p:txBody>
      </p:sp>
      <p:sp>
        <p:nvSpPr>
          <p:cNvPr id="6" name="Choose tools">
            <a:extLst xmlns:a="http://schemas.openxmlformats.org/drawingml/2006/main">
              <a:ext uri="{FF2B5EF4-FFF2-40B4-BE49-F238E27FC236}">
                <a16:creationId xmlns:a16="http://schemas.microsoft.com/office/drawing/2014/main" id="{F81AC371-8CBE-4028-A0CE-00D5668C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90725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 tools</a:t>
            </a:r>
          </a:p>
        </p:txBody>
      </p:sp>
      <p:sp>
        <p:nvSpPr>
          <p:cNvPr id="7" name="Build">
            <a:extLst xmlns:a="http://schemas.openxmlformats.org/drawingml/2006/main">
              <a:ext uri="{FF2B5EF4-FFF2-40B4-BE49-F238E27FC236}">
                <a16:creationId xmlns:a16="http://schemas.microsoft.com/office/drawing/2014/main" id="{36753B88-BCD2-460C-874E-196AF175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90725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62250" y="22955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tailEnd type="arrow" w="sm" len="sm"/>
          </a:ln>
        </p:spPr>
      </p:cxnSp>
      <p:cxnSp>
        <p:nvCxnSpPr>
          <p:cNvPr id="2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524500" y="22955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tailEnd type="arrow" w="sm" len="sm"/>
          </a:ln>
        </p:spPr>
      </p:cxnSp>
      <p:sp>
        <p:nvSpPr>
          <p:cNvPr id="10" name="Quality check">
            <a:extLst xmlns:a="http://schemas.openxmlformats.org/drawingml/2006/main">
              <a:ext uri="{FF2B5EF4-FFF2-40B4-BE49-F238E27FC236}">
                <a16:creationId xmlns:a16="http://schemas.microsoft.com/office/drawing/2014/main" id="{00420122-FD32-4769-A633-52233C47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23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Quality check</a:t>
            </a:r>
          </a:p>
        </p:txBody>
      </p:sp>
      <p:sp>
        <p:nvSpPr>
          <p:cNvPr id="11" name="YES">
            <a:extLst xmlns:a="http://schemas.openxmlformats.org/drawingml/2006/main">
              <a:ext uri="{FF2B5EF4-FFF2-40B4-BE49-F238E27FC236}">
                <a16:creationId xmlns:a16="http://schemas.microsoft.com/office/drawing/2014/main" id="{9742DB1A-F5AC-412E-8BC3-C414D2F7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9092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9CF8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9CF84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2" name="Project completion">
            <a:extLst xmlns:a="http://schemas.openxmlformats.org/drawingml/2006/main">
              <a:ext uri="{FF2B5EF4-FFF2-40B4-BE49-F238E27FC236}">
                <a16:creationId xmlns:a16="http://schemas.microsoft.com/office/drawing/2014/main" id="{57378D77-D207-4AE2-A16A-DBF7E590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590925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completion</a:t>
            </a:r>
          </a:p>
        </p:txBody>
      </p:sp>
      <p:sp>
        <p:nvSpPr>
          <p:cNvPr id="13" name="NO">
            <a:extLst xmlns:a="http://schemas.openxmlformats.org/drawingml/2006/main">
              <a:ext uri="{FF2B5EF4-FFF2-40B4-BE49-F238E27FC236}">
                <a16:creationId xmlns:a16="http://schemas.microsoft.com/office/drawing/2014/main" id="{8C3096D3-B3F5-4C6B-A60B-BB416C5A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338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E8D8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E8D83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4" name="Hire engineers again and improve construction.">
            <a:extLst xmlns:a="http://schemas.openxmlformats.org/drawingml/2006/main">
              <a:ext uri="{FF2B5EF4-FFF2-40B4-BE49-F238E27FC236}">
                <a16:creationId xmlns:a16="http://schemas.microsoft.com/office/drawing/2014/main" id="{4A1A60CC-60DD-4822-9918-0AFEC380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86225"/>
            <a:ext cx="4048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Hire engineers again and improve construction.</a:t>
            </a:r>
          </a:p>
        </p:txBody>
      </p:sp>
    </p:spTree>
    <p:extLst>
      <p:ext uri="{BB962C8B-B14F-4D97-AF65-F5344CB8AC3E}">
        <p14:creationId xmlns:p14="http://schemas.microsoft.com/office/powerpoint/2010/main" val="156775870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a10cc99ba4cb8"/>
          <a:stretch xmlns:a="http://schemas.openxmlformats.org/drawingml/2006/main"/>
        </p:blipFill>
        <p:spPr>
          <a:xfrm xmlns:a="http://schemas.openxmlformats.org/drawingml/2006/main">
            <a:off x="7429500" y="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2" name="Project completion">
            <a:extLst xmlns:a="http://schemas.openxmlformats.org/drawingml/2006/main">
              <a:ext uri="{FF2B5EF4-FFF2-40B4-BE49-F238E27FC236}">
                <a16:creationId xmlns:a16="http://schemas.microsoft.com/office/drawing/2014/main" id="{64FC28EF-86C5-403D-90AC-C1F57558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completion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1274A47C-BCEC-49BA-BC91-583339ED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Cost, quality">
            <a:extLst xmlns:a="http://schemas.openxmlformats.org/drawingml/2006/main">
              <a:ext uri="{FF2B5EF4-FFF2-40B4-BE49-F238E27FC236}">
                <a16:creationId xmlns:a16="http://schemas.microsoft.com/office/drawing/2014/main" id="{3D57EF82-7B9F-4BC4-AC9A-F0AA9CEC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38325"/>
            <a:ext cx="54292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Cost, quality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time</a:t>
            </a:r>
          </a:p>
        </p:txBody>
      </p:sp>
      <p:sp>
        <p:nvSpPr>
          <p:cNvPr id="5" name="Evaluate the project results">
            <a:extLst xmlns:a="http://schemas.openxmlformats.org/drawingml/2006/main">
              <a:ext uri="{FF2B5EF4-FFF2-40B4-BE49-F238E27FC236}">
                <a16:creationId xmlns:a16="http://schemas.microsoft.com/office/drawing/2014/main" id="{964B4678-91D8-40E7-93F5-569D4211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742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Evaluate the project results</a:t>
            </a:r>
          </a:p>
          <a:p xmlns:a="http://schemas.openxmlformats.org/drawingml/2006/main">
            <a:pPr>
              <a:defRPr sz="202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and the profit of each party.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07aef6ad446cc"/>
          <a:srcRect xmlns:a="http://schemas.openxmlformats.org/drawingml/2006/main" l="33890" t="0" r="338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72150" y="1933575"/>
            <a:ext cx="2800350" cy="247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65777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f04ff85944c21"/>
          <a:stretch xmlns:a="http://schemas.openxmlformats.org/drawingml/2006/main"/>
        </p:blipFill>
        <p:spPr>
          <a:xfrm xmlns:a="http://schemas.openxmlformats.org/drawingml/2006/main">
            <a:off x="7429500" y="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2" name="Game tips">
            <a:extLst xmlns:a="http://schemas.openxmlformats.org/drawingml/2006/main">
              <a:ext uri="{FF2B5EF4-FFF2-40B4-BE49-F238E27FC236}">
                <a16:creationId xmlns:a16="http://schemas.microsoft.com/office/drawing/2014/main" id="{8209F8F9-35BC-4E80-A8E7-4FF711F8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Game tips</a:t>
            </a:r>
          </a:p>
        </p:txBody>
      </p:sp>
      <p:sp>
        <p:nvSpPr>
          <p:cNvPr id="3" name="21">
            <a:extLst xmlns:a="http://schemas.openxmlformats.org/drawingml/2006/main">
              <a:ext uri="{FF2B5EF4-FFF2-40B4-BE49-F238E27FC236}">
                <a16:creationId xmlns:a16="http://schemas.microsoft.com/office/drawing/2014/main" id="{12541D11-6784-471C-9CF3-D6D0B5D7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Quality and delay">
            <a:extLst xmlns:a="http://schemas.openxmlformats.org/drawingml/2006/main">
              <a:ext uri="{FF2B5EF4-FFF2-40B4-BE49-F238E27FC236}">
                <a16:creationId xmlns:a16="http://schemas.microsoft.com/office/drawing/2014/main" id="{70F28396-7BA3-46E0-B49C-EF387D23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5732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Quality and delay</a:t>
            </a:r>
          </a:p>
        </p:txBody>
      </p:sp>
      <p:sp>
        <p:nvSpPr>
          <p:cNvPr id="5" name="Better quality increases profit. More delay increa">
            <a:extLst xmlns:a="http://schemas.openxmlformats.org/drawingml/2006/main">
              <a:ext uri="{FF2B5EF4-FFF2-40B4-BE49-F238E27FC236}">
                <a16:creationId xmlns:a16="http://schemas.microsoft.com/office/drawing/2014/main" id="{3A031F1A-5A70-40A0-914E-16A9CBC9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57325"/>
            <a:ext cx="464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Better quality increases profit. More delay increases loss.</a:t>
            </a:r>
          </a:p>
        </p:txBody>
      </p:sp>
      <p:sp>
        <p:nvSpPr>
          <p:cNvPr id="6" name="Shared penalties">
            <a:extLst xmlns:a="http://schemas.openxmlformats.org/drawingml/2006/main">
              <a:ext uri="{FF2B5EF4-FFF2-40B4-BE49-F238E27FC236}">
                <a16:creationId xmlns:a16="http://schemas.microsoft.com/office/drawing/2014/main" id="{F71E407E-B671-46FD-BB54-591254DE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 penalties</a:t>
            </a:r>
          </a:p>
        </p:txBody>
      </p:sp>
      <p:sp>
        <p:nvSpPr>
          <p:cNvPr id="7" name="The client shares penalties with the design team o">
            <a:extLst xmlns:a="http://schemas.openxmlformats.org/drawingml/2006/main">
              <a:ext uri="{FF2B5EF4-FFF2-40B4-BE49-F238E27FC236}">
                <a16:creationId xmlns:a16="http://schemas.microsoft.com/office/drawing/2014/main" id="{EE52A0E3-70A2-4401-AE0F-D5543A3F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86000"/>
            <a:ext cx="464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The client shares penalties with the design team or contractor.</a:t>
            </a:r>
          </a:p>
        </p:txBody>
      </p:sp>
      <p:sp>
        <p:nvSpPr>
          <p:cNvPr id="8" name="BIM in design saves $50">
            <a:extLst xmlns:a="http://schemas.openxmlformats.org/drawingml/2006/main">
              <a:ext uri="{FF2B5EF4-FFF2-40B4-BE49-F238E27FC236}">
                <a16:creationId xmlns:a16="http://schemas.microsoft.com/office/drawing/2014/main" id="{8DEB567D-12A2-423E-B76D-598ECF2C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BIM in design saves $50</a:t>
            </a:r>
          </a:p>
        </p:txBody>
      </p:sp>
      <p:sp>
        <p:nvSpPr>
          <p:cNvPr id="9" name="The contractor saves $50 when the design team uses">
            <a:extLst xmlns:a="http://schemas.openxmlformats.org/drawingml/2006/main">
              <a:ext uri="{FF2B5EF4-FFF2-40B4-BE49-F238E27FC236}">
                <a16:creationId xmlns:a16="http://schemas.microsoft.com/office/drawing/2014/main" id="{B486F074-C066-4C13-9743-03F46A97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14675"/>
            <a:ext cx="464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The contractor saves $50 when the design team uses BIM.</a:t>
            </a:r>
          </a:p>
        </p:txBody>
      </p:sp>
      <p:sp>
        <p:nvSpPr>
          <p:cNvPr id="10" name="Switching from CAD to BIM">
            <a:extLst xmlns:a="http://schemas.openxmlformats.org/drawingml/2006/main">
              <a:ext uri="{FF2B5EF4-FFF2-40B4-BE49-F238E27FC236}">
                <a16:creationId xmlns:a16="http://schemas.microsoft.com/office/drawing/2014/main" id="{06E2D9F1-292A-4076-8F31-B9001DE5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Switching from CAD to BIM</a:t>
            </a:r>
          </a:p>
        </p:txBody>
      </p:sp>
      <p:sp>
        <p:nvSpPr>
          <p:cNvPr id="11" name="In the next round, overhead is $5 for design and $">
            <a:extLst xmlns:a="http://schemas.openxmlformats.org/drawingml/2006/main">
              <a:ext uri="{FF2B5EF4-FFF2-40B4-BE49-F238E27FC236}">
                <a16:creationId xmlns:a16="http://schemas.microsoft.com/office/drawing/2014/main" id="{4DE69856-DB1A-4FC4-B675-B37A72A2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43350"/>
            <a:ext cx="464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In the next round, overhead is $5 for design and $25 for construction.</a:t>
            </a:r>
          </a:p>
        </p:txBody>
      </p:sp>
    </p:spTree>
    <p:extLst>
      <p:ext uri="{BB962C8B-B14F-4D97-AF65-F5344CB8AC3E}">
        <p14:creationId xmlns:p14="http://schemas.microsoft.com/office/powerpoint/2010/main" val="78049293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dcd9a211c1443f"/>
          <a:stretch xmlns:a="http://schemas.openxmlformats.org/drawingml/2006/main"/>
        </p:blipFill>
        <p:spPr>
          <a:xfrm xmlns:a="http://schemas.openxmlformats.org/drawingml/2006/main">
            <a:off x="7429500" y="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2" name="Round one">
            <a:extLst xmlns:a="http://schemas.openxmlformats.org/drawingml/2006/main">
              <a:ext uri="{FF2B5EF4-FFF2-40B4-BE49-F238E27FC236}">
                <a16:creationId xmlns:a16="http://schemas.microsoft.com/office/drawing/2014/main" id="{A5E9EAE3-4160-4923-A01B-A673129A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Round one</a:t>
            </a:r>
          </a:p>
        </p:txBody>
      </p:sp>
      <p:sp>
        <p:nvSpPr>
          <p:cNvPr id="3" name="Project information">
            <a:extLst xmlns:a="http://schemas.openxmlformats.org/drawingml/2006/main">
              <a:ext uri="{FF2B5EF4-FFF2-40B4-BE49-F238E27FC236}">
                <a16:creationId xmlns:a16="http://schemas.microsoft.com/office/drawing/2014/main" id="{D223DF1A-C614-4FC7-ADB2-F79F251E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771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Project information</a:t>
            </a:r>
          </a:p>
        </p:txBody>
      </p:sp>
      <p:sp>
        <p:nvSpPr>
          <p:cNvPr id="4" name="22">
            <a:extLst xmlns:a="http://schemas.openxmlformats.org/drawingml/2006/main">
              <a:ext uri="{FF2B5EF4-FFF2-40B4-BE49-F238E27FC236}">
                <a16:creationId xmlns:a16="http://schemas.microsoft.com/office/drawing/2014/main" id="{19F67EE0-6F0F-4691-AD13-75CDEF68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$1,200">
            <a:extLst xmlns:a="http://schemas.openxmlformats.org/drawingml/2006/main">
              <a:ext uri="{FF2B5EF4-FFF2-40B4-BE49-F238E27FC236}">
                <a16:creationId xmlns:a16="http://schemas.microsoft.com/office/drawing/2014/main" id="{7EE8F09C-0CD0-4038-B3A6-73C8522D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$1,200</a:t>
            </a:r>
          </a:p>
        </p:txBody>
      </p:sp>
      <p:sp>
        <p:nvSpPr>
          <p:cNvPr id="6" name="Total budget">
            <a:extLst xmlns:a="http://schemas.openxmlformats.org/drawingml/2006/main">
              <a:ext uri="{FF2B5EF4-FFF2-40B4-BE49-F238E27FC236}">
                <a16:creationId xmlns:a16="http://schemas.microsoft.com/office/drawing/2014/main" id="{2E1FF54F-664C-4C8E-91F0-B6A29B73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717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Total budget</a:t>
            </a:r>
          </a:p>
        </p:txBody>
      </p:sp>
      <p:sp>
        <p:nvSpPr>
          <p:cNvPr id="7" name="24">
            <a:extLst xmlns:a="http://schemas.openxmlformats.org/drawingml/2006/main">
              <a:ext uri="{FF2B5EF4-FFF2-40B4-BE49-F238E27FC236}">
                <a16:creationId xmlns:a16="http://schemas.microsoft.com/office/drawing/2014/main" id="{7B6726BD-92DE-40D5-9D3E-C8409DAB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8" name="Quality target">
            <a:extLst xmlns:a="http://schemas.openxmlformats.org/drawingml/2006/main">
              <a:ext uri="{FF2B5EF4-FFF2-40B4-BE49-F238E27FC236}">
                <a16:creationId xmlns:a16="http://schemas.microsoft.com/office/drawing/2014/main" id="{E9394838-905B-4C15-9E6D-A3A7A979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2910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Quality target</a:t>
            </a:r>
          </a:p>
        </p:txBody>
      </p:sp>
      <p:sp>
        <p:nvSpPr>
          <p:cNvPr id="9" name="24">
            <a:extLst xmlns:a="http://schemas.openxmlformats.org/drawingml/2006/main">
              <a:ext uri="{FF2B5EF4-FFF2-40B4-BE49-F238E27FC236}">
                <a16:creationId xmlns:a16="http://schemas.microsoft.com/office/drawing/2014/main" id="{CB81B501-3621-45F0-B226-20B9B547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31470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0" name="Time target">
            <a:extLst xmlns:a="http://schemas.openxmlformats.org/drawingml/2006/main">
              <a:ext uri="{FF2B5EF4-FFF2-40B4-BE49-F238E27FC236}">
                <a16:creationId xmlns:a16="http://schemas.microsoft.com/office/drawing/2014/main" id="{BB1EE0E7-FE91-4A99-9B40-76A0D696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22910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Time target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887d97aa74740"/>
          <a:stretch xmlns:a="http://schemas.openxmlformats.org/drawingml/2006/main"/>
        </p:blipFill>
        <p:spPr>
          <a:xfrm xmlns:a="http://schemas.openxmlformats.org/drawingml/2006/main">
            <a:off x="5824538" y="1323975"/>
            <a:ext cx="2733675" cy="2733675"/>
          </a:xfrm>
          <a:prstGeom xmlns:a="http://schemas.openxmlformats.org/drawingml/2006/main" prst="rect">
            <a:avLst/>
          </a:prstGeom>
        </p:spPr>
      </p:pic>
      <p:sp>
        <p:nvSpPr>
          <p:cNvPr id="12" name="Design fee: $200">
            <a:extLst xmlns:a="http://schemas.openxmlformats.org/drawingml/2006/main">
              <a:ext uri="{FF2B5EF4-FFF2-40B4-BE49-F238E27FC236}">
                <a16:creationId xmlns:a16="http://schemas.microsoft.com/office/drawing/2014/main" id="{DA7DAE10-73C1-48B1-A43F-DCA78E0B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0767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Design fee: $200</a:t>
            </a:r>
          </a:p>
          <a:p xmlns:a="http://schemas.openxmlformats.org/drawingml/2006/main">
            <a:pPr>
              <a:defRPr sz="180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Construction fee: $1,000</a:t>
            </a:r>
          </a:p>
        </p:txBody>
      </p:sp>
    </p:spTree>
    <p:extLst>
      <p:ext uri="{BB962C8B-B14F-4D97-AF65-F5344CB8AC3E}">
        <p14:creationId xmlns:p14="http://schemas.microsoft.com/office/powerpoint/2010/main" val="121488503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45f561b4c4f3d"/>
          <a:stretch xmlns:a="http://schemas.openxmlformats.org/drawingml/2006/main"/>
        </p:blipFill>
        <p:spPr>
          <a:xfrm xmlns:a="http://schemas.openxmlformats.org/drawingml/2006/main">
            <a:off x="7429500" y="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2" name="Round one teams">
            <a:extLst xmlns:a="http://schemas.openxmlformats.org/drawingml/2006/main">
              <a:ext uri="{FF2B5EF4-FFF2-40B4-BE49-F238E27FC236}">
                <a16:creationId xmlns:a16="http://schemas.microsoft.com/office/drawing/2014/main" id="{614EA2D5-07FB-4D7A-B242-782C3EA0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Round one teams</a:t>
            </a:r>
          </a:p>
        </p:txBody>
      </p:sp>
      <p:sp>
        <p:nvSpPr>
          <p:cNvPr id="3" name="Each design or contractor pair belongs to the same">
            <a:extLst xmlns:a="http://schemas.openxmlformats.org/drawingml/2006/main">
              <a:ext uri="{FF2B5EF4-FFF2-40B4-BE49-F238E27FC236}">
                <a16:creationId xmlns:a16="http://schemas.microsoft.com/office/drawing/2014/main" id="{4462FAD1-8D1B-4325-968C-14833FAC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771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Each design or contractor pair belongs to the same company.</a:t>
            </a:r>
          </a:p>
        </p:txBody>
      </p:sp>
      <p:sp>
        <p:nvSpPr>
          <p:cNvPr id="4" name="23">
            <a:extLst xmlns:a="http://schemas.openxmlformats.org/drawingml/2006/main">
              <a:ext uri="{FF2B5EF4-FFF2-40B4-BE49-F238E27FC236}">
                <a16:creationId xmlns:a16="http://schemas.microsoft.com/office/drawing/2014/main" id="{5B1E1CE4-2F2B-4FE3-AA73-BE1ED4CB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63BD54EC-A28C-4A62-BB7C-FDB9352E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lient">
            <a:extLst xmlns:a="http://schemas.openxmlformats.org/drawingml/2006/main">
              <a:ext uri="{FF2B5EF4-FFF2-40B4-BE49-F238E27FC236}">
                <a16:creationId xmlns:a16="http://schemas.microsoft.com/office/drawing/2014/main" id="{3E85F4FA-C46F-4A2B-85D0-B5B23CB2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sp>
        <p:nvSpPr>
          <p:cNvPr id="7" name="One client">
            <a:extLst xmlns:a="http://schemas.openxmlformats.org/drawingml/2006/main">
              <a:ext uri="{FF2B5EF4-FFF2-40B4-BE49-F238E27FC236}">
                <a16:creationId xmlns:a16="http://schemas.microsoft.com/office/drawing/2014/main" id="{7AE4C926-5B53-48DB-9203-88DECB86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81425"/>
            <a:ext cx="2362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One client</a:t>
            </a:r>
          </a:p>
        </p:txBody>
      </p:sp>
      <p:sp>
        <p:nvSpPr>
          <p:cNvPr id="8" name="2">
            <a:extLst xmlns:a="http://schemas.openxmlformats.org/drawingml/2006/main">
              <a:ext uri="{FF2B5EF4-FFF2-40B4-BE49-F238E27FC236}">
                <a16:creationId xmlns:a16="http://schemas.microsoft.com/office/drawing/2014/main" id="{A80457A4-8B38-4514-8FFE-2E41EFDD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621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Design team">
            <a:extLst xmlns:a="http://schemas.openxmlformats.org/drawingml/2006/main">
              <a:ext uri="{FF2B5EF4-FFF2-40B4-BE49-F238E27FC236}">
                <a16:creationId xmlns:a16="http://schemas.microsoft.com/office/drawing/2014/main" id="{1204BA91-21FF-4E20-934B-5C84B0B8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76550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Design team</a:t>
            </a:r>
          </a:p>
        </p:txBody>
      </p:sp>
      <p:sp>
        <p:nvSpPr>
          <p:cNvPr id="10" name="2 people in the">
            <a:extLst xmlns:a="http://schemas.openxmlformats.org/drawingml/2006/main">
              <a:ext uri="{FF2B5EF4-FFF2-40B4-BE49-F238E27FC236}">
                <a16:creationId xmlns:a16="http://schemas.microsoft.com/office/drawing/2014/main" id="{57520E82-1EA2-4B00-AC4F-1067DF79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81425"/>
            <a:ext cx="2362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2 people in the</a:t>
            </a:r>
          </a:p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same company</a:t>
            </a:r>
          </a:p>
        </p:txBody>
      </p:sp>
      <p:sp>
        <p:nvSpPr>
          <p:cNvPr id="11" name="2">
            <a:extLst xmlns:a="http://schemas.openxmlformats.org/drawingml/2006/main">
              <a:ext uri="{FF2B5EF4-FFF2-40B4-BE49-F238E27FC236}">
                <a16:creationId xmlns:a16="http://schemas.microsoft.com/office/drawing/2014/main" id="{978051EA-294F-4093-B99D-CD764019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Contractor">
            <a:extLst xmlns:a="http://schemas.openxmlformats.org/drawingml/2006/main">
              <a:ext uri="{FF2B5EF4-FFF2-40B4-BE49-F238E27FC236}">
                <a16:creationId xmlns:a16="http://schemas.microsoft.com/office/drawing/2014/main" id="{152CD716-437A-4A32-A3F1-23CFC647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Contractor</a:t>
            </a:r>
          </a:p>
        </p:txBody>
      </p:sp>
      <p:sp>
        <p:nvSpPr>
          <p:cNvPr id="13" name="2 people in the">
            <a:extLst xmlns:a="http://schemas.openxmlformats.org/drawingml/2006/main">
              <a:ext uri="{FF2B5EF4-FFF2-40B4-BE49-F238E27FC236}">
                <a16:creationId xmlns:a16="http://schemas.microsoft.com/office/drawing/2014/main" id="{DC55A05C-DBD1-4C64-ACA0-9217DDC9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81425"/>
            <a:ext cx="2362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2 people in the</a:t>
            </a:r>
          </a:p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same company</a:t>
            </a:r>
          </a:p>
        </p:txBody>
      </p:sp>
    </p:spTree>
    <p:extLst>
      <p:ext uri="{BB962C8B-B14F-4D97-AF65-F5344CB8AC3E}">
        <p14:creationId xmlns:p14="http://schemas.microsoft.com/office/powerpoint/2010/main" val="136025431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1841a180e418d"/>
          <a:stretch xmlns:a="http://schemas.openxmlformats.org/drawingml/2006/main"/>
        </p:blipFill>
        <p:spPr>
          <a:xfrm xmlns:a="http://schemas.openxmlformats.org/drawingml/2006/main">
            <a:off x="5143500" y="0"/>
            <a:ext cx="4000500" cy="4000500"/>
          </a:xfrm>
          <a:prstGeom xmlns:a="http://schemas.openxmlformats.org/drawingml/2006/main" prst="rect">
            <a:avLst/>
          </a:prstGeom>
        </p:spPr>
      </p:pic>
      <p:sp>
        <p:nvSpPr>
          <p:cNvPr id="2" name="24">
            <a:extLst xmlns:a="http://schemas.openxmlformats.org/drawingml/2006/main">
              <a:ext uri="{FF2B5EF4-FFF2-40B4-BE49-F238E27FC236}">
                <a16:creationId xmlns:a16="http://schemas.microsoft.com/office/drawing/2014/main" id="{B620E1F2-043B-4F4B-84AC-C8884F41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" name="Round one">
            <a:extLst xmlns:a="http://schemas.openxmlformats.org/drawingml/2006/main">
              <a:ext uri="{FF2B5EF4-FFF2-40B4-BE49-F238E27FC236}">
                <a16:creationId xmlns:a16="http://schemas.microsoft.com/office/drawing/2014/main" id="{A4269272-91FA-4615-BCEC-E5239032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Round one</a:t>
            </a:r>
          </a:p>
        </p:txBody>
      </p:sp>
      <p:sp>
        <p:nvSpPr>
          <p:cNvPr id="4" name="Let’s">
            <a:extLst xmlns:a="http://schemas.openxmlformats.org/drawingml/2006/main">
              <a:ext uri="{FF2B5EF4-FFF2-40B4-BE49-F238E27FC236}">
                <a16:creationId xmlns:a16="http://schemas.microsoft.com/office/drawing/2014/main" id="{43F2E3D6-4AC4-4E6B-84D9-CFA30485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51435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Let’s</a:t>
            </a:r>
          </a:p>
          <a:p xmlns:a="http://schemas.openxmlformats.org/drawingml/2006/main">
            <a:pPr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roll it!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2ff98fa574657"/>
          <a:srcRect xmlns:a="http://schemas.openxmlformats.org/drawingml/2006/main" l="0" t="5952" r="0" b="59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05375" y="1504950"/>
            <a:ext cx="4000500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14864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6951883bb14d36"/>
          <a:stretch xmlns:a="http://schemas.openxmlformats.org/drawingml/2006/main"/>
        </p:blipFill>
        <p:spPr>
          <a:xfrm xmlns:a="http://schemas.openxmlformats.org/drawingml/2006/main">
            <a:off x="7429500" y="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2" name="Round two">
            <a:extLst xmlns:a="http://schemas.openxmlformats.org/drawingml/2006/main">
              <a:ext uri="{FF2B5EF4-FFF2-40B4-BE49-F238E27FC236}">
                <a16:creationId xmlns:a16="http://schemas.microsoft.com/office/drawing/2014/main" id="{5662192D-DA23-47D6-99F1-0AEAF2CF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Round two</a:t>
            </a:r>
          </a:p>
        </p:txBody>
      </p:sp>
      <p:sp>
        <p:nvSpPr>
          <p:cNvPr id="3" name="Project information">
            <a:extLst xmlns:a="http://schemas.openxmlformats.org/drawingml/2006/main">
              <a:ext uri="{FF2B5EF4-FFF2-40B4-BE49-F238E27FC236}">
                <a16:creationId xmlns:a16="http://schemas.microsoft.com/office/drawing/2014/main" id="{BAEFFE34-2341-4F83-B603-B700F043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771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Project information</a:t>
            </a:r>
          </a:p>
        </p:txBody>
      </p:sp>
      <p:sp>
        <p:nvSpPr>
          <p:cNvPr id="4" name="25">
            <a:extLst xmlns:a="http://schemas.openxmlformats.org/drawingml/2006/main">
              <a:ext uri="{FF2B5EF4-FFF2-40B4-BE49-F238E27FC236}">
                <a16:creationId xmlns:a16="http://schemas.microsoft.com/office/drawing/2014/main" id="{F7112AE0-3087-419F-8F8A-AD4A1AE5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$6,000">
            <a:extLst xmlns:a="http://schemas.openxmlformats.org/drawingml/2006/main">
              <a:ext uri="{FF2B5EF4-FFF2-40B4-BE49-F238E27FC236}">
                <a16:creationId xmlns:a16="http://schemas.microsoft.com/office/drawing/2014/main" id="{466391DE-DD2A-46E9-98EC-B06B27D1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$6,000</a:t>
            </a:r>
          </a:p>
        </p:txBody>
      </p:sp>
      <p:sp>
        <p:nvSpPr>
          <p:cNvPr id="6" name="Total budget">
            <a:extLst xmlns:a="http://schemas.openxmlformats.org/drawingml/2006/main">
              <a:ext uri="{FF2B5EF4-FFF2-40B4-BE49-F238E27FC236}">
                <a16:creationId xmlns:a16="http://schemas.microsoft.com/office/drawing/2014/main" id="{1FEEC7B4-4A1D-479F-9103-AF9A112D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717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Total budget</a:t>
            </a:r>
          </a:p>
        </p:txBody>
      </p:sp>
      <p:sp>
        <p:nvSpPr>
          <p:cNvPr id="7" name="120">
            <a:extLst xmlns:a="http://schemas.openxmlformats.org/drawingml/2006/main">
              <a:ext uri="{FF2B5EF4-FFF2-40B4-BE49-F238E27FC236}">
                <a16:creationId xmlns:a16="http://schemas.microsoft.com/office/drawing/2014/main" id="{FF9F3CCF-7697-46FE-A73C-38B82D60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8" name="Quality target">
            <a:extLst xmlns:a="http://schemas.openxmlformats.org/drawingml/2006/main">
              <a:ext uri="{FF2B5EF4-FFF2-40B4-BE49-F238E27FC236}">
                <a16:creationId xmlns:a16="http://schemas.microsoft.com/office/drawing/2014/main" id="{48BCDBF7-844A-4D0D-972F-E53D9CDD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2910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Quality target</a:t>
            </a:r>
          </a:p>
        </p:txBody>
      </p:sp>
      <p:sp>
        <p:nvSpPr>
          <p:cNvPr id="9" name="120">
            <a:extLst xmlns:a="http://schemas.openxmlformats.org/drawingml/2006/main">
              <a:ext uri="{FF2B5EF4-FFF2-40B4-BE49-F238E27FC236}">
                <a16:creationId xmlns:a16="http://schemas.microsoft.com/office/drawing/2014/main" id="{347CA2BD-9862-4C56-8EE8-49504CE7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31470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0" name="Time target">
            <a:extLst xmlns:a="http://schemas.openxmlformats.org/drawingml/2006/main">
              <a:ext uri="{FF2B5EF4-FFF2-40B4-BE49-F238E27FC236}">
                <a16:creationId xmlns:a16="http://schemas.microsoft.com/office/drawing/2014/main" id="{07361762-F21E-4BE4-9622-7DD95D7B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22910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Time target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136cc9af248ab"/>
          <a:stretch xmlns:a="http://schemas.openxmlformats.org/drawingml/2006/main"/>
        </p:blipFill>
        <p:spPr>
          <a:xfrm xmlns:a="http://schemas.openxmlformats.org/drawingml/2006/main">
            <a:off x="5824538" y="1323975"/>
            <a:ext cx="2733675" cy="2733675"/>
          </a:xfrm>
          <a:prstGeom xmlns:a="http://schemas.openxmlformats.org/drawingml/2006/main" prst="rect">
            <a:avLst/>
          </a:prstGeom>
        </p:spPr>
      </p:pic>
      <p:sp>
        <p:nvSpPr>
          <p:cNvPr id="12" name="Design fee: ??">
            <a:extLst xmlns:a="http://schemas.openxmlformats.org/drawingml/2006/main">
              <a:ext uri="{FF2B5EF4-FFF2-40B4-BE49-F238E27FC236}">
                <a16:creationId xmlns:a16="http://schemas.microsoft.com/office/drawing/2014/main" id="{2DF7BD5D-275F-43CD-BF5E-51BD294B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0767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Design fee: ??</a:t>
            </a:r>
          </a:p>
          <a:p xmlns:a="http://schemas.openxmlformats.org/drawingml/2006/main">
            <a:pPr>
              <a:defRPr sz="180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Construction fee: ??</a:t>
            </a:r>
          </a:p>
        </p:txBody>
      </p:sp>
    </p:spTree>
    <p:extLst>
      <p:ext uri="{BB962C8B-B14F-4D97-AF65-F5344CB8AC3E}">
        <p14:creationId xmlns:p14="http://schemas.microsoft.com/office/powerpoint/2010/main" val="13310808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0b532e1b5d4f7b"/>
          <a:stretch xmlns:a="http://schemas.openxmlformats.org/drawingml/2006/main"/>
        </p:blipFill>
        <p:spPr>
          <a:xfrm xmlns:a="http://schemas.openxmlformats.org/drawingml/2006/main">
            <a:off x="7429500" y="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2" name="Round two teams">
            <a:extLst xmlns:a="http://schemas.openxmlformats.org/drawingml/2006/main">
              <a:ext uri="{FF2B5EF4-FFF2-40B4-BE49-F238E27FC236}">
                <a16:creationId xmlns:a16="http://schemas.microsoft.com/office/drawing/2014/main" id="{E7FBE3F7-2969-4FA9-A34F-21C73BA4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Round two teams</a:t>
            </a:r>
          </a:p>
        </p:txBody>
      </p:sp>
      <p:sp>
        <p:nvSpPr>
          <p:cNvPr id="3" name="Designers and contractors now bid against each oth">
            <a:extLst xmlns:a="http://schemas.openxmlformats.org/drawingml/2006/main">
              <a:ext uri="{FF2B5EF4-FFF2-40B4-BE49-F238E27FC236}">
                <a16:creationId xmlns:a16="http://schemas.microsoft.com/office/drawing/2014/main" id="{EEA1A109-326D-4BDE-B258-948FDDC8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771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Designers and contractors now bid against each other.</a:t>
            </a:r>
          </a:p>
        </p:txBody>
      </p:sp>
      <p:sp>
        <p:nvSpPr>
          <p:cNvPr id="4" name="26">
            <a:extLst xmlns:a="http://schemas.openxmlformats.org/drawingml/2006/main">
              <a:ext uri="{FF2B5EF4-FFF2-40B4-BE49-F238E27FC236}">
                <a16:creationId xmlns:a16="http://schemas.microsoft.com/office/drawing/2014/main" id="{A53DECCE-348D-477D-AB4A-C4210755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74E17689-D634-41C7-9A78-83009031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lient">
            <a:extLst xmlns:a="http://schemas.openxmlformats.org/drawingml/2006/main">
              <a:ext uri="{FF2B5EF4-FFF2-40B4-BE49-F238E27FC236}">
                <a16:creationId xmlns:a16="http://schemas.microsoft.com/office/drawing/2014/main" id="{89E947B1-04B6-4EC5-B586-9104CFA0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sp>
        <p:nvSpPr>
          <p:cNvPr id="7" name="One client">
            <a:extLst xmlns:a="http://schemas.openxmlformats.org/drawingml/2006/main">
              <a:ext uri="{FF2B5EF4-FFF2-40B4-BE49-F238E27FC236}">
                <a16:creationId xmlns:a16="http://schemas.microsoft.com/office/drawing/2014/main" id="{85012E95-0ACD-4038-9C9B-94CA5D03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81425"/>
            <a:ext cx="2362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One client</a:t>
            </a:r>
          </a:p>
        </p:txBody>
      </p:sp>
      <p:sp>
        <p:nvSpPr>
          <p:cNvPr id="8" name="2">
            <a:extLst xmlns:a="http://schemas.openxmlformats.org/drawingml/2006/main">
              <a:ext uri="{FF2B5EF4-FFF2-40B4-BE49-F238E27FC236}">
                <a16:creationId xmlns:a16="http://schemas.microsoft.com/office/drawing/2014/main" id="{AA60EBD2-3F6E-430A-8B76-891B52A3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621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Design team">
            <a:extLst xmlns:a="http://schemas.openxmlformats.org/drawingml/2006/main">
              <a:ext uri="{FF2B5EF4-FFF2-40B4-BE49-F238E27FC236}">
                <a16:creationId xmlns:a16="http://schemas.microsoft.com/office/drawing/2014/main" id="{A62BB026-24F2-4734-BBF3-A5D2BDD8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76550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Design team</a:t>
            </a:r>
          </a:p>
        </p:txBody>
      </p:sp>
      <p:sp>
        <p:nvSpPr>
          <p:cNvPr id="10" name="2 people bidding">
            <a:extLst xmlns:a="http://schemas.openxmlformats.org/drawingml/2006/main">
              <a:ext uri="{FF2B5EF4-FFF2-40B4-BE49-F238E27FC236}">
                <a16:creationId xmlns:a16="http://schemas.microsoft.com/office/drawing/2014/main" id="{F20D5051-791E-460C-8368-AD9F0F9F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81425"/>
            <a:ext cx="2362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2 people bidding</a:t>
            </a:r>
          </a:p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against each other</a:t>
            </a:r>
          </a:p>
        </p:txBody>
      </p:sp>
      <p:sp>
        <p:nvSpPr>
          <p:cNvPr id="11" name="2">
            <a:extLst xmlns:a="http://schemas.openxmlformats.org/drawingml/2006/main">
              <a:ext uri="{FF2B5EF4-FFF2-40B4-BE49-F238E27FC236}">
                <a16:creationId xmlns:a16="http://schemas.microsoft.com/office/drawing/2014/main" id="{BE8A71A8-9EA7-4FE3-851A-0F8DD1E5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Contractor">
            <a:extLst xmlns:a="http://schemas.openxmlformats.org/drawingml/2006/main">
              <a:ext uri="{FF2B5EF4-FFF2-40B4-BE49-F238E27FC236}">
                <a16:creationId xmlns:a16="http://schemas.microsoft.com/office/drawing/2014/main" id="{69B9163C-4922-4871-B5F8-CD7F99F5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Contractor</a:t>
            </a:r>
          </a:p>
        </p:txBody>
      </p:sp>
      <p:sp>
        <p:nvSpPr>
          <p:cNvPr id="13" name="2 people bidding">
            <a:extLst xmlns:a="http://schemas.openxmlformats.org/drawingml/2006/main">
              <a:ext uri="{FF2B5EF4-FFF2-40B4-BE49-F238E27FC236}">
                <a16:creationId xmlns:a16="http://schemas.microsoft.com/office/drawing/2014/main" id="{1A283D17-1DE2-46C0-A8F4-8E5907D3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81425"/>
            <a:ext cx="2362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2 people bidding</a:t>
            </a:r>
          </a:p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against each other</a:t>
            </a:r>
          </a:p>
        </p:txBody>
      </p:sp>
    </p:spTree>
    <p:extLst>
      <p:ext uri="{BB962C8B-B14F-4D97-AF65-F5344CB8AC3E}">
        <p14:creationId xmlns:p14="http://schemas.microsoft.com/office/powerpoint/2010/main" val="164159284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5aad3180d4019"/>
          <a:stretch xmlns:a="http://schemas.openxmlformats.org/drawingml/2006/main"/>
        </p:blipFill>
        <p:spPr>
          <a:xfrm xmlns:a="http://schemas.openxmlformats.org/drawingml/2006/main">
            <a:off x="7429500" y="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2" name="Round two process">
            <a:extLst xmlns:a="http://schemas.openxmlformats.org/drawingml/2006/main">
              <a:ext uri="{FF2B5EF4-FFF2-40B4-BE49-F238E27FC236}">
                <a16:creationId xmlns:a16="http://schemas.microsoft.com/office/drawing/2014/main" id="{3DD6673D-96A1-4CFF-8439-B8E5E01B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Round two process</a:t>
            </a:r>
          </a:p>
        </p:txBody>
      </p:sp>
      <p:sp>
        <p:nvSpPr>
          <p:cNvPr id="3" name="27">
            <a:extLst xmlns:a="http://schemas.openxmlformats.org/drawingml/2006/main">
              <a:ext uri="{FF2B5EF4-FFF2-40B4-BE49-F238E27FC236}">
                <a16:creationId xmlns:a16="http://schemas.microsoft.com/office/drawing/2014/main" id="{4308A389-35F1-440B-B42F-EEA56F21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4" name="DESIGN">
            <a:extLst xmlns:a="http://schemas.openxmlformats.org/drawingml/2006/main">
              <a:ext uri="{FF2B5EF4-FFF2-40B4-BE49-F238E27FC236}">
                <a16:creationId xmlns:a16="http://schemas.microsoft.com/office/drawing/2014/main" id="{F632C65A-6F3D-47D9-8922-3A89F520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7B7B7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5" name="Project">
            <a:extLst xmlns:a="http://schemas.openxmlformats.org/drawingml/2006/main">
              <a:ext uri="{FF2B5EF4-FFF2-40B4-BE49-F238E27FC236}">
                <a16:creationId xmlns:a16="http://schemas.microsoft.com/office/drawing/2014/main" id="{46E4CEE6-7116-44EA-9E10-640D4A5B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planning</a:t>
            </a:r>
          </a:p>
        </p:txBody>
      </p:sp>
      <p:sp>
        <p:nvSpPr>
          <p:cNvPr id="6" name="Design team">
            <a:extLst xmlns:a="http://schemas.openxmlformats.org/drawingml/2006/main">
              <a:ext uri="{FF2B5EF4-FFF2-40B4-BE49-F238E27FC236}">
                <a16:creationId xmlns:a16="http://schemas.microsoft.com/office/drawing/2014/main" id="{85C4C1F5-1AB0-4DB7-B8E6-536EFA74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762125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team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bidding</a:t>
            </a:r>
          </a:p>
        </p:txBody>
      </p:sp>
      <p:sp>
        <p:nvSpPr>
          <p:cNvPr id="7" name="Choose">
            <a:extLst xmlns:a="http://schemas.openxmlformats.org/drawingml/2006/main">
              <a:ext uri="{FF2B5EF4-FFF2-40B4-BE49-F238E27FC236}">
                <a16:creationId xmlns:a16="http://schemas.microsoft.com/office/drawing/2014/main" id="{6EF3515B-F84D-4F35-924D-060D29BD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62125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architects</a:t>
            </a:r>
          </a:p>
        </p:txBody>
      </p:sp>
      <p:sp>
        <p:nvSpPr>
          <p:cNvPr id="8" name="Choose">
            <a:extLst xmlns:a="http://schemas.openxmlformats.org/drawingml/2006/main">
              <a:ext uri="{FF2B5EF4-FFF2-40B4-BE49-F238E27FC236}">
                <a16:creationId xmlns:a16="http://schemas.microsoft.com/office/drawing/2014/main" id="{B19E321B-1321-4823-908A-B5B7DBAD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62125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tools</a:t>
            </a:r>
          </a:p>
        </p:txBody>
      </p:sp>
      <p:sp>
        <p:nvSpPr>
          <p:cNvPr id="9" name="Deliver">
            <a:extLst xmlns:a="http://schemas.openxmlformats.org/drawingml/2006/main">
              <a:ext uri="{FF2B5EF4-FFF2-40B4-BE49-F238E27FC236}">
                <a16:creationId xmlns:a16="http://schemas.microsoft.com/office/drawing/2014/main" id="{51392F2E-09F8-49B3-9A42-883FEB50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62125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Deliver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10" name="Quality">
            <a:extLst xmlns:a="http://schemas.openxmlformats.org/drawingml/2006/main">
              <a:ext uri="{FF2B5EF4-FFF2-40B4-BE49-F238E27FC236}">
                <a16:creationId xmlns:a16="http://schemas.microsoft.com/office/drawing/2014/main" id="{339139B2-2193-4954-8EE6-B0452DCF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62125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Quality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cxnSp>
        <p:nvCxnSpPr>
          <p:cNvPr id="4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752600" y="20478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tailEnd type="arrow" w="sm" len="sm"/>
          </a:ln>
        </p:spPr>
      </p:cxn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05150" y="20478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tailEnd type="arrow" w="sm" len="sm"/>
          </a:ln>
        </p:spPr>
      </p:cxn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457700" y="20478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tailEnd type="arrow" w="sm" len="sm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10250" y="20478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tailEnd type="arrow" w="sm" len="sm"/>
          </a:ln>
        </p:spPr>
      </p:cxnSp>
      <p:cxnSp>
        <p:nvCxnSpPr>
          <p:cNvPr id="4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162800" y="20478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tailEnd type="arrow" w="sm" len="sm"/>
          </a:ln>
        </p:spPr>
      </p:cxnSp>
      <p:sp>
        <p:nvSpPr>
          <p:cNvPr id="16" name="If quality misses the target, hire architects agai">
            <a:extLst xmlns:a="http://schemas.openxmlformats.org/drawingml/2006/main">
              <a:ext uri="{FF2B5EF4-FFF2-40B4-BE49-F238E27FC236}">
                <a16:creationId xmlns:a16="http://schemas.microsoft.com/office/drawing/2014/main" id="{E53242B5-BC85-4C9F-BD99-50046AF2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If quality misses the target, hire architects again and repeat design.</a:t>
            </a:r>
          </a:p>
        </p:txBody>
      </p:sp>
      <p:sp>
        <p:nvSpPr>
          <p:cNvPr id="17" name="CONSTRUCTION">
            <a:extLst xmlns:a="http://schemas.openxmlformats.org/drawingml/2006/main">
              <a:ext uri="{FF2B5EF4-FFF2-40B4-BE49-F238E27FC236}">
                <a16:creationId xmlns:a16="http://schemas.microsoft.com/office/drawing/2014/main" id="{B83E81B5-767A-4A2D-83F3-DCC68018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575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7B7B7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18" name="Begins after design approval">
            <a:extLst xmlns:a="http://schemas.openxmlformats.org/drawingml/2006/main">
              <a:ext uri="{FF2B5EF4-FFF2-40B4-BE49-F238E27FC236}">
                <a16:creationId xmlns:a16="http://schemas.microsoft.com/office/drawing/2014/main" id="{40CA9CFB-338B-42D7-AEC1-659589BA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575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Begins after design approval</a:t>
            </a:r>
          </a:p>
        </p:txBody>
      </p:sp>
      <p:sp>
        <p:nvSpPr>
          <p:cNvPr id="19" name="Contractor">
            <a:extLst xmlns:a="http://schemas.openxmlformats.org/drawingml/2006/main">
              <a:ext uri="{FF2B5EF4-FFF2-40B4-BE49-F238E27FC236}">
                <a16:creationId xmlns:a16="http://schemas.microsoft.com/office/drawing/2014/main" id="{7E5EA73B-0090-41CE-A19B-D0D7CDB0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86150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Contractor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bidding</a:t>
            </a:r>
          </a:p>
        </p:txBody>
      </p:sp>
      <p:sp>
        <p:nvSpPr>
          <p:cNvPr id="20" name="Choose">
            <a:extLst xmlns:a="http://schemas.openxmlformats.org/drawingml/2006/main">
              <a:ext uri="{FF2B5EF4-FFF2-40B4-BE49-F238E27FC236}">
                <a16:creationId xmlns:a16="http://schemas.microsoft.com/office/drawing/2014/main" id="{C52DF831-BF0F-4EE1-B077-6EF3D28E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486150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engineers</a:t>
            </a:r>
          </a:p>
        </p:txBody>
      </p:sp>
      <p:sp>
        <p:nvSpPr>
          <p:cNvPr id="21" name="Choose">
            <a:extLst xmlns:a="http://schemas.openxmlformats.org/drawingml/2006/main">
              <a:ext uri="{FF2B5EF4-FFF2-40B4-BE49-F238E27FC236}">
                <a16:creationId xmlns:a16="http://schemas.microsoft.com/office/drawing/2014/main" id="{DF872EE5-D534-42B0-BD06-1760E35C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86150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tools</a:t>
            </a:r>
          </a:p>
        </p:txBody>
      </p:sp>
      <p:sp>
        <p:nvSpPr>
          <p:cNvPr id="22" name="Build">
            <a:extLst xmlns:a="http://schemas.openxmlformats.org/drawingml/2006/main">
              <a:ext uri="{FF2B5EF4-FFF2-40B4-BE49-F238E27FC236}">
                <a16:creationId xmlns:a16="http://schemas.microsoft.com/office/drawing/2014/main" id="{BFB95626-BD26-4F3F-8E5E-01408F59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86150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23" name="Check built">
            <a:extLst xmlns:a="http://schemas.openxmlformats.org/drawingml/2006/main">
              <a:ext uri="{FF2B5EF4-FFF2-40B4-BE49-F238E27FC236}">
                <a16:creationId xmlns:a16="http://schemas.microsoft.com/office/drawing/2014/main" id="{FC79337E-A1D1-40AB-9343-10A7FAAA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86150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 built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24" name="Project">
            <a:extLst xmlns:a="http://schemas.openxmlformats.org/drawingml/2006/main">
              <a:ext uri="{FF2B5EF4-FFF2-40B4-BE49-F238E27FC236}">
                <a16:creationId xmlns:a16="http://schemas.microsoft.com/office/drawing/2014/main" id="{B165855E-F493-4EDF-B14D-7A3311AC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86150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completion</a:t>
            </a:r>
          </a:p>
        </p:txBody>
      </p:sp>
      <p:cxnSp>
        <p:nvCxnSpPr>
          <p:cNvPr id="59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752600" y="37719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tailEnd type="arrow" w="sm" len="sm"/>
          </a:ln>
        </p:spPr>
      </p:cxnSp>
      <p:cxnSp>
        <p:nvCxnSpPr>
          <p:cNvPr id="60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105150" y="37719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tailEnd type="arrow" w="sm" len="sm"/>
          </a:ln>
        </p:spPr>
      </p:cxnSp>
      <p:cxnSp>
        <p:nvCxnSpPr>
          <p:cNvPr id="61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457700" y="37719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tailEnd type="arrow" w="sm" len="sm"/>
          </a:ln>
        </p:spPr>
      </p:cxnSp>
      <p:cxnSp>
        <p:nvCxnSpPr>
          <p:cNvPr id="62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810250" y="37719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tailEnd type="arrow" w="sm" len="sm"/>
          </a:ln>
        </p:spPr>
      </p:cxnSp>
      <p:cxnSp>
        <p:nvCxnSpPr>
          <p:cNvPr id="63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162800" y="37719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tailEnd type="arrow" w="sm" len="sm"/>
          </a:ln>
        </p:spPr>
      </p:cxnSp>
      <p:sp>
        <p:nvSpPr>
          <p:cNvPr id="30" name="If quality misses the target, hire engineers again">
            <a:extLst xmlns:a="http://schemas.openxmlformats.org/drawingml/2006/main">
              <a:ext uri="{FF2B5EF4-FFF2-40B4-BE49-F238E27FC236}">
                <a16:creationId xmlns:a16="http://schemas.microsoft.com/office/drawing/2014/main" id="{4DC3E800-9F2C-4055-AC07-1B0A8F8A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243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If quality misses the target, hire engineers again and repeat construction.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4A224A-0C2D-4370-98DF-A1D5E176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666875"/>
            <a:ext cx="40862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F12EEA-6191-4844-B0E7-D1C1742F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390900"/>
            <a:ext cx="40862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3" name="×5">
            <a:extLst xmlns:a="http://schemas.openxmlformats.org/drawingml/2006/main">
              <a:ext uri="{FF2B5EF4-FFF2-40B4-BE49-F238E27FC236}">
                <a16:creationId xmlns:a16="http://schemas.microsoft.com/office/drawing/2014/main" id="{956AAE76-5BCB-4BEE-899E-EAD1E30E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304925"/>
            <a:ext cx="90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×5</a:t>
            </a:r>
          </a:p>
        </p:txBody>
      </p:sp>
      <p:sp>
        <p:nvSpPr>
          <p:cNvPr id="34" name="×5">
            <a:extLst xmlns:a="http://schemas.openxmlformats.org/drawingml/2006/main">
              <a:ext uri="{FF2B5EF4-FFF2-40B4-BE49-F238E27FC236}">
                <a16:creationId xmlns:a16="http://schemas.microsoft.com/office/drawing/2014/main" id="{0536E339-B889-46CD-B470-2A7343EB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7180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×5</a:t>
            </a:r>
          </a:p>
        </p:txBody>
      </p:sp>
    </p:spTree>
    <p:extLst>
      <p:ext uri="{BB962C8B-B14F-4D97-AF65-F5344CB8AC3E}">
        <p14:creationId xmlns:p14="http://schemas.microsoft.com/office/powerpoint/2010/main" val="107470742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99ba1bd8db40b3"/>
          <a:stretch xmlns:a="http://schemas.openxmlformats.org/drawingml/2006/main"/>
        </p:blipFill>
        <p:spPr>
          <a:xfrm xmlns:a="http://schemas.openxmlformats.org/drawingml/2006/main">
            <a:off x="7429500" y="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2" name="People and tool costs">
            <a:extLst xmlns:a="http://schemas.openxmlformats.org/drawingml/2006/main">
              <a:ext uri="{FF2B5EF4-FFF2-40B4-BE49-F238E27FC236}">
                <a16:creationId xmlns:a16="http://schemas.microsoft.com/office/drawing/2014/main" id="{FAC89BD5-FA92-48C4-B4B0-4E1BCF4A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People and tool costs</a:t>
            </a:r>
          </a:p>
        </p:txBody>
      </p:sp>
      <p:sp>
        <p:nvSpPr>
          <p:cNvPr id="3" name="Both professional services and technology choices ">
            <a:extLst xmlns:a="http://schemas.openxmlformats.org/drawingml/2006/main">
              <a:ext uri="{FF2B5EF4-FFF2-40B4-BE49-F238E27FC236}">
                <a16:creationId xmlns:a16="http://schemas.microsoft.com/office/drawing/2014/main" id="{6C1AAC7C-F160-4540-B0F6-27EF08C3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771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Both professional services and technology choices have a cost.</a:t>
            </a:r>
          </a:p>
        </p:txBody>
      </p:sp>
      <p:sp>
        <p:nvSpPr>
          <p:cNvPr id="4" name="28">
            <a:extLst xmlns:a="http://schemas.openxmlformats.org/drawingml/2006/main">
              <a:ext uri="{FF2B5EF4-FFF2-40B4-BE49-F238E27FC236}">
                <a16:creationId xmlns:a16="http://schemas.microsoft.com/office/drawing/2014/main" id="{FFF97642-9867-424F-9520-745481C1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$?">
            <a:extLst xmlns:a="http://schemas.openxmlformats.org/drawingml/2006/main">
              <a:ext uri="{FF2B5EF4-FFF2-40B4-BE49-F238E27FC236}">
                <a16:creationId xmlns:a16="http://schemas.microsoft.com/office/drawing/2014/main" id="{B387A93A-5728-48AB-945D-7F1E4506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05025"/>
            <a:ext cx="3762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$?</a:t>
            </a:r>
          </a:p>
        </p:txBody>
      </p:sp>
      <p:sp>
        <p:nvSpPr>
          <p:cNvPr id="6" name="Architects and engineers">
            <a:extLst xmlns:a="http://schemas.openxmlformats.org/drawingml/2006/main">
              <a:ext uri="{FF2B5EF4-FFF2-40B4-BE49-F238E27FC236}">
                <a16:creationId xmlns:a16="http://schemas.microsoft.com/office/drawing/2014/main" id="{65DA2335-1DE0-4C26-9DC8-DBA6312B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19425"/>
            <a:ext cx="3762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Architects and engineers</a:t>
            </a:r>
          </a:p>
        </p:txBody>
      </p:sp>
      <p:sp>
        <p:nvSpPr>
          <p:cNvPr id="7" name="$?">
            <a:extLst xmlns:a="http://schemas.openxmlformats.org/drawingml/2006/main">
              <a:ext uri="{FF2B5EF4-FFF2-40B4-BE49-F238E27FC236}">
                <a16:creationId xmlns:a16="http://schemas.microsoft.com/office/drawing/2014/main" id="{F4C92A20-3C22-46C5-AB92-BA37F59B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05025"/>
            <a:ext cx="3667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$?</a:t>
            </a:r>
          </a:p>
        </p:txBody>
      </p:sp>
      <p:sp>
        <p:nvSpPr>
          <p:cNvPr id="8" name="BIM and CAD">
            <a:extLst xmlns:a="http://schemas.openxmlformats.org/drawingml/2006/main">
              <a:ext uri="{FF2B5EF4-FFF2-40B4-BE49-F238E27FC236}">
                <a16:creationId xmlns:a16="http://schemas.microsoft.com/office/drawing/2014/main" id="{1B390E51-A47E-442E-854A-35585372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019425"/>
            <a:ext cx="3667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BIM and CAD</a:t>
            </a:r>
          </a:p>
        </p:txBody>
      </p:sp>
    </p:spTree>
    <p:extLst>
      <p:ext uri="{BB962C8B-B14F-4D97-AF65-F5344CB8AC3E}">
        <p14:creationId xmlns:p14="http://schemas.microsoft.com/office/powerpoint/2010/main" val="119754849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af83348fe47cc"/>
          <a:stretch xmlns:a="http://schemas.openxmlformats.org/drawingml/2006/main"/>
        </p:blipFill>
        <p:spPr>
          <a:xfrm xmlns:a="http://schemas.openxmlformats.org/drawingml/2006/main">
            <a:off x="5143500" y="0"/>
            <a:ext cx="4000500" cy="4000500"/>
          </a:xfrm>
          <a:prstGeom xmlns:a="http://schemas.openxmlformats.org/drawingml/2006/main" prst="rect">
            <a:avLst/>
          </a:prstGeom>
        </p:spPr>
      </p:pic>
      <p:sp>
        <p:nvSpPr>
          <p:cNvPr id="2" name="Bidding time matters">
            <a:extLst xmlns:a="http://schemas.openxmlformats.org/drawingml/2006/main">
              <a:ext uri="{FF2B5EF4-FFF2-40B4-BE49-F238E27FC236}">
                <a16:creationId xmlns:a16="http://schemas.microsoft.com/office/drawing/2014/main" id="{E690CB7F-1705-4A38-A8E8-701619BD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Bidding time matters</a:t>
            </a:r>
          </a:p>
        </p:txBody>
      </p:sp>
      <p:sp>
        <p:nvSpPr>
          <p:cNvPr id="3" name="29">
            <a:extLst xmlns:a="http://schemas.openxmlformats.org/drawingml/2006/main">
              <a:ext uri="{FF2B5EF4-FFF2-40B4-BE49-F238E27FC236}">
                <a16:creationId xmlns:a16="http://schemas.microsoft.com/office/drawing/2014/main" id="{E6521829-3DB6-407F-BCAE-2ED7F5CD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4" name="Extra time">
            <a:extLst xmlns:a="http://schemas.openxmlformats.org/drawingml/2006/main">
              <a:ext uri="{FF2B5EF4-FFF2-40B4-BE49-F238E27FC236}">
                <a16:creationId xmlns:a16="http://schemas.microsoft.com/office/drawing/2014/main" id="{428D8B71-D4B4-4F8E-972B-1994218A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38325"/>
            <a:ext cx="676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Extra time</a:t>
            </a:r>
          </a:p>
        </p:txBody>
      </p:sp>
      <p:sp>
        <p:nvSpPr>
          <p:cNvPr id="5" name="If bidding takes too long,">
            <a:extLst xmlns:a="http://schemas.openxmlformats.org/drawingml/2006/main">
              <a:ext uri="{FF2B5EF4-FFF2-40B4-BE49-F238E27FC236}">
                <a16:creationId xmlns:a16="http://schemas.microsoft.com/office/drawing/2014/main" id="{EC7DAEF9-19B3-465D-B5D8-B5555EBA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69532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If bidding takes too long,</a:t>
            </a:r>
          </a:p>
          <a:p xmlns:a="http://schemas.openxmlformats.org/drawingml/2006/main">
            <a:pPr>
              <a:defRPr sz="255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extra time units will be added.</a:t>
            </a:r>
          </a:p>
        </p:txBody>
      </p:sp>
    </p:spTree>
    <p:extLst>
      <p:ext uri="{BB962C8B-B14F-4D97-AF65-F5344CB8AC3E}">
        <p14:creationId xmlns:p14="http://schemas.microsoft.com/office/powerpoint/2010/main" val="75404706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8708c078b646f9"/>
          <a:stretch xmlns:a="http://schemas.openxmlformats.org/drawingml/2006/main"/>
        </p:blipFill>
        <p:spPr>
          <a:xfrm xmlns:a="http://schemas.openxmlformats.org/drawingml/2006/main">
            <a:off x="5143500" y="0"/>
            <a:ext cx="4000500" cy="4000500"/>
          </a:xfrm>
          <a:prstGeom xmlns:a="http://schemas.openxmlformats.org/drawingml/2006/main" prst="rect">
            <a:avLst/>
          </a:prstGeom>
        </p:spPr>
      </p:pic>
      <p:sp>
        <p:nvSpPr>
          <p:cNvPr id="2" name="30">
            <a:extLst xmlns:a="http://schemas.openxmlformats.org/drawingml/2006/main">
              <a:ext uri="{FF2B5EF4-FFF2-40B4-BE49-F238E27FC236}">
                <a16:creationId xmlns:a16="http://schemas.microsoft.com/office/drawing/2014/main" id="{B6FD2EE4-F79B-4AAD-BE9D-CE29FFA1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3" name="Round two">
            <a:extLst xmlns:a="http://schemas.openxmlformats.org/drawingml/2006/main">
              <a:ext uri="{FF2B5EF4-FFF2-40B4-BE49-F238E27FC236}">
                <a16:creationId xmlns:a16="http://schemas.microsoft.com/office/drawing/2014/main" id="{FEE1B8A2-A838-4E38-9F69-6B53C238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7B7B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7B7B7"/>
                </a:solidFill>
                <a:latin typeface="Arial"/>
                <a:ea typeface="Arial"/>
                <a:cs typeface="Arial"/>
              </a:rPr>
              <a:t>Round two</a:t>
            </a:r>
          </a:p>
        </p:txBody>
      </p:sp>
      <p:sp>
        <p:nvSpPr>
          <p:cNvPr id="4" name="Let’s">
            <a:extLst xmlns:a="http://schemas.openxmlformats.org/drawingml/2006/main">
              <a:ext uri="{FF2B5EF4-FFF2-40B4-BE49-F238E27FC236}">
                <a16:creationId xmlns:a16="http://schemas.microsoft.com/office/drawing/2014/main" id="{AE3CD547-7240-4B81-A77B-420AC273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51435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Let’s</a:t>
            </a:r>
          </a:p>
          <a:p xmlns:a="http://schemas.openxmlformats.org/drawingml/2006/main">
            <a:pPr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roll it!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2cdaf8a2144c9"/>
          <a:srcRect xmlns:a="http://schemas.openxmlformats.org/drawingml/2006/main" l="0" t="5952" r="0" b="59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05375" y="1504950"/>
            <a:ext cx="4000500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9335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2026-09-17T13:02:07.9100000Z</dcterms:created>
  <dcterms:modified xsi:type="dcterms:W3CDTF">2026-09-17T13:02:07.9100000Z</dcterms:modified>
</coreProperties>
</file>